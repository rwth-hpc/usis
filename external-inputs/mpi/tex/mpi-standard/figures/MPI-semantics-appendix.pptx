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9675" cy="104648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21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44960" y="1712643"/>
            <a:ext cx="5669756" cy="3643301"/>
          </a:xfrm>
        </p:spPr>
        <p:txBody>
          <a:bodyPr anchor="b"/>
          <a:lstStyle>
            <a:lvl1pPr algn="ctr">
              <a:defRPr sz="915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44960" y="5496443"/>
            <a:ext cx="5669756" cy="2526570"/>
          </a:xfrm>
        </p:spPr>
        <p:txBody>
          <a:bodyPr/>
          <a:lstStyle>
            <a:lvl1pPr marL="0" indent="0" algn="ctr">
              <a:buNone/>
              <a:defRPr sz="3662"/>
            </a:lvl1pPr>
            <a:lvl2pPr marL="697641" indent="0" algn="ctr">
              <a:buNone/>
              <a:defRPr sz="3052"/>
            </a:lvl2pPr>
            <a:lvl3pPr marL="1395283" indent="0" algn="ctr">
              <a:buNone/>
              <a:defRPr sz="2747"/>
            </a:lvl3pPr>
            <a:lvl4pPr marL="2092924" indent="0" algn="ctr">
              <a:buNone/>
              <a:defRPr sz="2441"/>
            </a:lvl4pPr>
            <a:lvl5pPr marL="2790566" indent="0" algn="ctr">
              <a:buNone/>
              <a:defRPr sz="2441"/>
            </a:lvl5pPr>
            <a:lvl6pPr marL="3488207" indent="0" algn="ctr">
              <a:buNone/>
              <a:defRPr sz="2441"/>
            </a:lvl6pPr>
            <a:lvl7pPr marL="4185849" indent="0" algn="ctr">
              <a:buNone/>
              <a:defRPr sz="2441"/>
            </a:lvl7pPr>
            <a:lvl8pPr marL="4883490" indent="0" algn="ctr">
              <a:buNone/>
              <a:defRPr sz="2441"/>
            </a:lvl8pPr>
            <a:lvl9pPr marL="5581132" indent="0" algn="ctr">
              <a:buNone/>
              <a:defRPr sz="2441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63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5790" y="2608934"/>
            <a:ext cx="6520220" cy="4353065"/>
          </a:xfrm>
        </p:spPr>
        <p:txBody>
          <a:bodyPr anchor="b"/>
          <a:lstStyle>
            <a:lvl1pPr>
              <a:defRPr sz="915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5790" y="7003181"/>
            <a:ext cx="6520220" cy="2289174"/>
          </a:xfrm>
        </p:spPr>
        <p:txBody>
          <a:bodyPr/>
          <a:lstStyle>
            <a:lvl1pPr marL="0" indent="0">
              <a:buNone/>
              <a:defRPr sz="3662">
                <a:solidFill>
                  <a:schemeClr val="tx1">
                    <a:tint val="75000"/>
                  </a:schemeClr>
                </a:solidFill>
              </a:defRPr>
            </a:lvl1pPr>
            <a:lvl2pPr marL="697641" indent="0">
              <a:buNone/>
              <a:defRPr sz="3052">
                <a:solidFill>
                  <a:schemeClr val="tx1">
                    <a:tint val="75000"/>
                  </a:schemeClr>
                </a:solidFill>
              </a:defRPr>
            </a:lvl2pPr>
            <a:lvl3pPr marL="1395283" indent="0">
              <a:buNone/>
              <a:defRPr sz="2747">
                <a:solidFill>
                  <a:schemeClr val="tx1">
                    <a:tint val="75000"/>
                  </a:schemeClr>
                </a:solidFill>
              </a:defRPr>
            </a:lvl3pPr>
            <a:lvl4pPr marL="2092924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4pPr>
            <a:lvl5pPr marL="2790566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5pPr>
            <a:lvl6pPr marL="3488207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6pPr>
            <a:lvl7pPr marL="4185849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7pPr>
            <a:lvl8pPr marL="4883490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8pPr>
            <a:lvl9pPr marL="5581132" indent="0">
              <a:buNone/>
              <a:defRPr sz="24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17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1878" y="4251326"/>
            <a:ext cx="1974571" cy="1013050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390945" y="4251326"/>
            <a:ext cx="1974571" cy="1013050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47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0712" y="557154"/>
            <a:ext cx="6520220" cy="202271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0712" y="2565330"/>
            <a:ext cx="3198097" cy="1257229"/>
          </a:xfrm>
        </p:spPr>
        <p:txBody>
          <a:bodyPr anchor="b"/>
          <a:lstStyle>
            <a:lvl1pPr marL="0" indent="0">
              <a:buNone/>
              <a:defRPr sz="3662" b="1"/>
            </a:lvl1pPr>
            <a:lvl2pPr marL="697641" indent="0">
              <a:buNone/>
              <a:defRPr sz="3052" b="1"/>
            </a:lvl2pPr>
            <a:lvl3pPr marL="1395283" indent="0">
              <a:buNone/>
              <a:defRPr sz="2747" b="1"/>
            </a:lvl3pPr>
            <a:lvl4pPr marL="2092924" indent="0">
              <a:buNone/>
              <a:defRPr sz="2441" b="1"/>
            </a:lvl4pPr>
            <a:lvl5pPr marL="2790566" indent="0">
              <a:buNone/>
              <a:defRPr sz="2441" b="1"/>
            </a:lvl5pPr>
            <a:lvl6pPr marL="3488207" indent="0">
              <a:buNone/>
              <a:defRPr sz="2441" b="1"/>
            </a:lvl6pPr>
            <a:lvl7pPr marL="4185849" indent="0">
              <a:buNone/>
              <a:defRPr sz="2441" b="1"/>
            </a:lvl7pPr>
            <a:lvl8pPr marL="4883490" indent="0">
              <a:buNone/>
              <a:defRPr sz="2441" b="1"/>
            </a:lvl8pPr>
            <a:lvl9pPr marL="5581132" indent="0">
              <a:buNone/>
              <a:defRPr sz="2441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20712" y="3822559"/>
            <a:ext cx="3198097" cy="562240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827085" y="2565330"/>
            <a:ext cx="3213847" cy="1257229"/>
          </a:xfrm>
        </p:spPr>
        <p:txBody>
          <a:bodyPr anchor="b"/>
          <a:lstStyle>
            <a:lvl1pPr marL="0" indent="0">
              <a:buNone/>
              <a:defRPr sz="3662" b="1"/>
            </a:lvl1pPr>
            <a:lvl2pPr marL="697641" indent="0">
              <a:buNone/>
              <a:defRPr sz="3052" b="1"/>
            </a:lvl2pPr>
            <a:lvl3pPr marL="1395283" indent="0">
              <a:buNone/>
              <a:defRPr sz="2747" b="1"/>
            </a:lvl3pPr>
            <a:lvl4pPr marL="2092924" indent="0">
              <a:buNone/>
              <a:defRPr sz="2441" b="1"/>
            </a:lvl4pPr>
            <a:lvl5pPr marL="2790566" indent="0">
              <a:buNone/>
              <a:defRPr sz="2441" b="1"/>
            </a:lvl5pPr>
            <a:lvl6pPr marL="3488207" indent="0">
              <a:buNone/>
              <a:defRPr sz="2441" b="1"/>
            </a:lvl6pPr>
            <a:lvl7pPr marL="4185849" indent="0">
              <a:buNone/>
              <a:defRPr sz="2441" b="1"/>
            </a:lvl7pPr>
            <a:lvl8pPr marL="4883490" indent="0">
              <a:buNone/>
              <a:defRPr sz="2441" b="1"/>
            </a:lvl8pPr>
            <a:lvl9pPr marL="5581132" indent="0">
              <a:buNone/>
              <a:defRPr sz="2441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827085" y="3822559"/>
            <a:ext cx="3213847" cy="562240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069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016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92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0712" y="697653"/>
            <a:ext cx="2438192" cy="2441787"/>
          </a:xfrm>
        </p:spPr>
        <p:txBody>
          <a:bodyPr anchor="b"/>
          <a:lstStyle>
            <a:lvl1pPr>
              <a:defRPr sz="4883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13847" y="1506738"/>
            <a:ext cx="3827085" cy="7436791"/>
          </a:xfrm>
        </p:spPr>
        <p:txBody>
          <a:bodyPr/>
          <a:lstStyle>
            <a:lvl1pPr>
              <a:defRPr sz="4883"/>
            </a:lvl1pPr>
            <a:lvl2pPr>
              <a:defRPr sz="4273"/>
            </a:lvl2pPr>
            <a:lvl3pPr>
              <a:defRPr sz="3662"/>
            </a:lvl3pPr>
            <a:lvl4pPr>
              <a:defRPr sz="3052"/>
            </a:lvl4pPr>
            <a:lvl5pPr>
              <a:defRPr sz="3052"/>
            </a:lvl5pPr>
            <a:lvl6pPr>
              <a:defRPr sz="3052"/>
            </a:lvl6pPr>
            <a:lvl7pPr>
              <a:defRPr sz="3052"/>
            </a:lvl7pPr>
            <a:lvl8pPr>
              <a:defRPr sz="3052"/>
            </a:lvl8pPr>
            <a:lvl9pPr>
              <a:defRPr sz="3052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20712" y="3139440"/>
            <a:ext cx="2438192" cy="5816201"/>
          </a:xfrm>
        </p:spPr>
        <p:txBody>
          <a:bodyPr/>
          <a:lstStyle>
            <a:lvl1pPr marL="0" indent="0">
              <a:buNone/>
              <a:defRPr sz="2441"/>
            </a:lvl1pPr>
            <a:lvl2pPr marL="697641" indent="0">
              <a:buNone/>
              <a:defRPr sz="2136"/>
            </a:lvl2pPr>
            <a:lvl3pPr marL="1395283" indent="0">
              <a:buNone/>
              <a:defRPr sz="1831"/>
            </a:lvl3pPr>
            <a:lvl4pPr marL="2092924" indent="0">
              <a:buNone/>
              <a:defRPr sz="1526"/>
            </a:lvl4pPr>
            <a:lvl5pPr marL="2790566" indent="0">
              <a:buNone/>
              <a:defRPr sz="1526"/>
            </a:lvl5pPr>
            <a:lvl6pPr marL="3488207" indent="0">
              <a:buNone/>
              <a:defRPr sz="1526"/>
            </a:lvl6pPr>
            <a:lvl7pPr marL="4185849" indent="0">
              <a:buNone/>
              <a:defRPr sz="1526"/>
            </a:lvl7pPr>
            <a:lvl8pPr marL="4883490" indent="0">
              <a:buNone/>
              <a:defRPr sz="1526"/>
            </a:lvl8pPr>
            <a:lvl9pPr marL="5581132" indent="0">
              <a:buNone/>
              <a:defRPr sz="1526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896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0712" y="697653"/>
            <a:ext cx="2438192" cy="2441787"/>
          </a:xfrm>
        </p:spPr>
        <p:txBody>
          <a:bodyPr anchor="b"/>
          <a:lstStyle>
            <a:lvl1pPr>
              <a:defRPr sz="4883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213847" y="1506738"/>
            <a:ext cx="3827085" cy="7436791"/>
          </a:xfrm>
        </p:spPr>
        <p:txBody>
          <a:bodyPr/>
          <a:lstStyle>
            <a:lvl1pPr marL="0" indent="0">
              <a:buNone/>
              <a:defRPr sz="4883"/>
            </a:lvl1pPr>
            <a:lvl2pPr marL="697641" indent="0">
              <a:buNone/>
              <a:defRPr sz="4273"/>
            </a:lvl2pPr>
            <a:lvl3pPr marL="1395283" indent="0">
              <a:buNone/>
              <a:defRPr sz="3662"/>
            </a:lvl3pPr>
            <a:lvl4pPr marL="2092924" indent="0">
              <a:buNone/>
              <a:defRPr sz="3052"/>
            </a:lvl4pPr>
            <a:lvl5pPr marL="2790566" indent="0">
              <a:buNone/>
              <a:defRPr sz="3052"/>
            </a:lvl5pPr>
            <a:lvl6pPr marL="3488207" indent="0">
              <a:buNone/>
              <a:defRPr sz="3052"/>
            </a:lvl6pPr>
            <a:lvl7pPr marL="4185849" indent="0">
              <a:buNone/>
              <a:defRPr sz="3052"/>
            </a:lvl7pPr>
            <a:lvl8pPr marL="4883490" indent="0">
              <a:buNone/>
              <a:defRPr sz="3052"/>
            </a:lvl8pPr>
            <a:lvl9pPr marL="5581132" indent="0">
              <a:buNone/>
              <a:defRPr sz="3052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20712" y="3139440"/>
            <a:ext cx="2438192" cy="5816201"/>
          </a:xfrm>
        </p:spPr>
        <p:txBody>
          <a:bodyPr/>
          <a:lstStyle>
            <a:lvl1pPr marL="0" indent="0">
              <a:buNone/>
              <a:defRPr sz="2441"/>
            </a:lvl1pPr>
            <a:lvl2pPr marL="697641" indent="0">
              <a:buNone/>
              <a:defRPr sz="2136"/>
            </a:lvl2pPr>
            <a:lvl3pPr marL="1395283" indent="0">
              <a:buNone/>
              <a:defRPr sz="1831"/>
            </a:lvl3pPr>
            <a:lvl4pPr marL="2092924" indent="0">
              <a:buNone/>
              <a:defRPr sz="1526"/>
            </a:lvl4pPr>
            <a:lvl5pPr marL="2790566" indent="0">
              <a:buNone/>
              <a:defRPr sz="1526"/>
            </a:lvl5pPr>
            <a:lvl6pPr marL="3488207" indent="0">
              <a:buNone/>
              <a:defRPr sz="1526"/>
            </a:lvl6pPr>
            <a:lvl7pPr marL="4185849" indent="0">
              <a:buNone/>
              <a:defRPr sz="1526"/>
            </a:lvl7pPr>
            <a:lvl8pPr marL="4883490" indent="0">
              <a:buNone/>
              <a:defRPr sz="1526"/>
            </a:lvl8pPr>
            <a:lvl9pPr marL="5581132" indent="0">
              <a:buNone/>
              <a:defRPr sz="1526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22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94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3354606" y="850266"/>
            <a:ext cx="1010910" cy="1353156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21877" y="850266"/>
            <a:ext cx="2938233" cy="1353156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15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19728" y="557154"/>
            <a:ext cx="6520220" cy="2022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9728" y="2785769"/>
            <a:ext cx="6520220" cy="6639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19728" y="9699320"/>
            <a:ext cx="1700927" cy="5571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4AE52-76EB-4DD8-BCB3-AFED6DCD6251}" type="datetimeFigureOut">
              <a:rPr lang="de-DE" smtClean="0"/>
              <a:t>31.05.2020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04143" y="9699320"/>
            <a:ext cx="2551390" cy="5571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339020" y="9699320"/>
            <a:ext cx="1700927" cy="5571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7BF8C-E06B-477D-80F8-E737A8E8C7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29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95283" rtl="0" eaLnBrk="1" latinLnBrk="0" hangingPunct="1">
        <a:lnSpc>
          <a:spcPct val="90000"/>
        </a:lnSpc>
        <a:spcBef>
          <a:spcPct val="0"/>
        </a:spcBef>
        <a:buNone/>
        <a:defRPr sz="6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8821" indent="-348821" algn="l" defTabSz="1395283" rtl="0" eaLnBrk="1" latinLnBrk="0" hangingPunct="1">
        <a:lnSpc>
          <a:spcPct val="90000"/>
        </a:lnSpc>
        <a:spcBef>
          <a:spcPts val="1526"/>
        </a:spcBef>
        <a:buFont typeface="Arial" panose="020B0604020202020204" pitchFamily="34" charset="0"/>
        <a:buChar char="•"/>
        <a:defRPr sz="4273" kern="1200">
          <a:solidFill>
            <a:schemeClr val="tx1"/>
          </a:solidFill>
          <a:latin typeface="+mn-lt"/>
          <a:ea typeface="+mn-ea"/>
          <a:cs typeface="+mn-cs"/>
        </a:defRPr>
      </a:lvl1pPr>
      <a:lvl2pPr marL="1046462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3662" kern="1200">
          <a:solidFill>
            <a:schemeClr val="tx1"/>
          </a:solidFill>
          <a:latin typeface="+mn-lt"/>
          <a:ea typeface="+mn-ea"/>
          <a:cs typeface="+mn-cs"/>
        </a:defRPr>
      </a:lvl2pPr>
      <a:lvl3pPr marL="1744104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3052" kern="1200">
          <a:solidFill>
            <a:schemeClr val="tx1"/>
          </a:solidFill>
          <a:latin typeface="+mn-lt"/>
          <a:ea typeface="+mn-ea"/>
          <a:cs typeface="+mn-cs"/>
        </a:defRPr>
      </a:lvl3pPr>
      <a:lvl4pPr marL="2441745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4pPr>
      <a:lvl5pPr marL="3139387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5pPr>
      <a:lvl6pPr marL="3837028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6pPr>
      <a:lvl7pPr marL="4534670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7pPr>
      <a:lvl8pPr marL="5232311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8pPr>
      <a:lvl9pPr marL="5929953" indent="-348821" algn="l" defTabSz="1395283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1pPr>
      <a:lvl2pPr marL="697641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2pPr>
      <a:lvl3pPr marL="1395283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092924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4pPr>
      <a:lvl5pPr marL="2790566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5pPr>
      <a:lvl6pPr marL="3488207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6pPr>
      <a:lvl7pPr marL="4185849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7pPr>
      <a:lvl8pPr marL="4883490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8pPr>
      <a:lvl9pPr marL="5581132" algn="l" defTabSz="1395283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-Arbeitsblatt1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-Arbeitsblatt2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3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375115" y="812800"/>
            <a:ext cx="704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Annex A.2 Summary of the Semantics of all Communicating MPI Routines</a:t>
            </a:r>
            <a:endParaRPr lang="en-US" dirty="0"/>
          </a:p>
        </p:txBody>
      </p:sp>
      <p:sp>
        <p:nvSpPr>
          <p:cNvPr id="6" name="Rechteck 5"/>
          <p:cNvSpPr/>
          <p:nvPr/>
        </p:nvSpPr>
        <p:spPr>
          <a:xfrm>
            <a:off x="519113" y="1531088"/>
            <a:ext cx="6521450" cy="19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Ursprüngliche Formatierung beibehalten</a:t>
            </a:r>
            <a:endParaRPr lang="de-DE" sz="1600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17887"/>
              </p:ext>
            </p:extLst>
          </p:nvPr>
        </p:nvGraphicFramePr>
        <p:xfrm>
          <a:off x="627968" y="2241778"/>
          <a:ext cx="6301114" cy="6638926"/>
        </p:xfrm>
        <a:graphic>
          <a:graphicData uri="http://schemas.openxmlformats.org/drawingml/2006/table">
            <a:tbl>
              <a:tblPr/>
              <a:tblGrid>
                <a:gridCol w="2609170"/>
                <a:gridCol w="411513"/>
                <a:gridCol w="218890"/>
                <a:gridCol w="221809"/>
                <a:gridCol w="201378"/>
                <a:gridCol w="385246"/>
                <a:gridCol w="105067"/>
                <a:gridCol w="186786"/>
                <a:gridCol w="303528"/>
                <a:gridCol w="1657727"/>
              </a:tblGrid>
              <a:tr h="175031"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Stages: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i=initialization, s=starting, c=completion, f=freeing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Cpl: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ic=incomplete, c=completing, f=freeing procedure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de-DE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Loc:</a:t>
                      </a:r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l=local, nl=non-local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Bold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exceptions, e.g., ic+nl = incomplete+non-local, and c+l = complete+local (both are defined as blocking)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Blk: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b=blocking, nb=nonblocking. Note that from a user's view point, this column is only a hint. Relevant is, whe-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ther a routine is local or not and which resources are blocked until when. See both previous and last columns.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</a:t>
                      </a: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Bold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exceptions, e.g., nonblocking precudures without prefix "I", or that "I"only marks immediate return.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Op: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 of operation type: b-op = blocking operation, 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                nb-op = nonblocking operation, p-op = persistent operation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de-DE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Collective procedures: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- C = all processes of the group must call the procedure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- sq = in the same sequence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6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- S1 = blocking synchronization, S2 = start-complete-synchronization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Blocked resources: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They are blocked after the call until the end of subsequent stage where this resource is not 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further mentioned.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2779"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de-DE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Remarks: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8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1) Must not return before the corresponding MPI_receive operation is started.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2) Not associated with an operation.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3) Usually, MPI_WAIT is non-local, but in this case it is local.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4) In case of a MPI_(I)BARRIER, the S1/S2 synchronization is required (instead of "may or may not").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5) Collective: all processes must complete, but with the free choice of using MPI_WAIT 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or MPI_TEST returning flag=TRUE.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5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6) It also may not return until MPI_INIT was called in the children.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7) Addresses are cached on the request handle.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9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8)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One of the rare cases that an incomplete call is non-local and therefore blocking.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9) One shall not free or deallocate the buffer before the operation is freed, that is MPI_REQUEST_FREE returned.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10) For MPI_WAIT and MPI_TEST, see corresponding lines for a) MPI_BSEND, or b) MPI_IBCAST.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6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11)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The prefix "I" marks only that this procedure returns immediately.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12)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One of the exceptions that a blocking procedure is local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13) MPI_(I)MRECV initiates the receive buffer whereas MPI_(I)MPROBE initiated the operation 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through generating the message handle.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14)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Nonblocking procedure without an "I" prefix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6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15) i stage only if flag=TRUE is returned else no operation is progressed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16) Collective: all processes must start, but with the free choice of using MPI_START or MPI_STARTALL for a given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persistent request handle, i.e., if one process starts a persistent request handle then all processes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 gridSpan="10"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of the associated process group must start their corresponding request handle, and if any process starts then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75031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all processes must complete their handles.</a:t>
                      </a: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DE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52" marR="8752" marT="87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93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360363" y="329603"/>
            <a:ext cx="6838950" cy="202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Einbetten </a:t>
            </a:r>
            <a:r>
              <a:rPr lang="de-DE" sz="1600" dirty="0" smtClean="0">
                <a:sym typeface="Wingdings" panose="05000000000000000000" pitchFamily="2" charset="2"/>
              </a:rPr>
              <a:t> img2.png</a:t>
            </a:r>
            <a:endParaRPr lang="de-DE" sz="1600" dirty="0"/>
          </a:p>
        </p:txBody>
      </p:sp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829690"/>
              </p:ext>
            </p:extLst>
          </p:nvPr>
        </p:nvGraphicFramePr>
        <p:xfrm>
          <a:off x="355600" y="1793875"/>
          <a:ext cx="6848475" cy="687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Arbeitsblatt" r:id="rId4" imgW="6848559" imgH="6876963" progId="Excel.Sheet.12">
                  <p:embed/>
                </p:oleObj>
              </mc:Choice>
              <mc:Fallback>
                <p:oleObj name="Arbeitsblatt" r:id="rId4" imgW="6848559" imgH="687696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1793875"/>
                        <a:ext cx="6848475" cy="687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74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360363" y="-10651"/>
            <a:ext cx="6838950" cy="106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Einbetten </a:t>
            </a:r>
            <a:r>
              <a:rPr lang="de-DE" sz="1200" dirty="0">
                <a:sym typeface="Wingdings" panose="05000000000000000000" pitchFamily="2" charset="2"/>
              </a:rPr>
              <a:t> </a:t>
            </a:r>
            <a:r>
              <a:rPr lang="de-DE" sz="1200" dirty="0" smtClean="0">
                <a:sym typeface="Wingdings" panose="05000000000000000000" pitchFamily="2" charset="2"/>
              </a:rPr>
              <a:t>img3.png</a:t>
            </a:r>
            <a:endParaRPr lang="de-DE" sz="1200" dirty="0"/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31345"/>
              </p:ext>
            </p:extLst>
          </p:nvPr>
        </p:nvGraphicFramePr>
        <p:xfrm>
          <a:off x="355600" y="498475"/>
          <a:ext cx="6848475" cy="946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Arbeitsblatt" r:id="rId4" imgW="6848478" imgH="9467940" progId="Excel.Sheet.12">
                  <p:embed/>
                </p:oleObj>
              </mc:Choice>
              <mc:Fallback>
                <p:oleObj name="Arbeitsblatt" r:id="rId4" imgW="6848478" imgH="94679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498475"/>
                        <a:ext cx="6848475" cy="946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28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360363" y="329603"/>
            <a:ext cx="6838950" cy="202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Einbetten </a:t>
            </a:r>
            <a:r>
              <a:rPr lang="de-DE" sz="1600" dirty="0">
                <a:sym typeface="Wingdings" panose="05000000000000000000" pitchFamily="2" charset="2"/>
              </a:rPr>
              <a:t> </a:t>
            </a:r>
            <a:r>
              <a:rPr lang="de-DE" sz="1600" dirty="0" smtClean="0">
                <a:sym typeface="Wingdings" panose="05000000000000000000" pitchFamily="2" charset="2"/>
              </a:rPr>
              <a:t>img4.png</a:t>
            </a:r>
            <a:endParaRPr lang="de-DE" sz="1600" dirty="0"/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647957"/>
              </p:ext>
            </p:extLst>
          </p:nvPr>
        </p:nvGraphicFramePr>
        <p:xfrm>
          <a:off x="355600" y="1660525"/>
          <a:ext cx="6848475" cy="714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Arbeitsblatt" r:id="rId3" imgW="6848478" imgH="7143866" progId="Excel.Sheet.12">
                  <p:embed/>
                </p:oleObj>
              </mc:Choice>
              <mc:Fallback>
                <p:oleObj name="Arbeitsblatt" r:id="rId3" imgW="6848478" imgH="714386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600" y="1660525"/>
                        <a:ext cx="6848475" cy="714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817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/>
          <p:cNvGrpSpPr/>
          <p:nvPr/>
        </p:nvGrpSpPr>
        <p:grpSpPr>
          <a:xfrm>
            <a:off x="2192455" y="1153688"/>
            <a:ext cx="2883398" cy="301500"/>
            <a:chOff x="2192455" y="3317024"/>
            <a:chExt cx="2883398" cy="301500"/>
          </a:xfrm>
        </p:grpSpPr>
        <p:sp>
          <p:nvSpPr>
            <p:cNvPr id="12" name="Rechteck 11"/>
            <p:cNvSpPr/>
            <p:nvPr/>
          </p:nvSpPr>
          <p:spPr>
            <a:xfrm>
              <a:off x="2192455" y="3317024"/>
              <a:ext cx="2883398" cy="301500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t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1793875" algn="l"/>
                </a:tabLst>
                <a:defRPr/>
              </a:pPr>
              <a:r>
                <a:rPr kumimoji="0" lang="de-DE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MPI_A	MPI_B</a:t>
              </a:r>
            </a:p>
          </p:txBody>
        </p:sp>
        <p:cxnSp>
          <p:nvCxnSpPr>
            <p:cNvPr id="15" name="Gerade Verbindung mit Pfeil 14"/>
            <p:cNvCxnSpPr/>
            <p:nvPr/>
          </p:nvCxnSpPr>
          <p:spPr>
            <a:xfrm flipH="1">
              <a:off x="2907562" y="3461908"/>
              <a:ext cx="1137137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dash"/>
              <a:tailEnd type="triangle"/>
            </a:ln>
            <a:effectLst/>
          </p:spPr>
        </p:cxnSp>
      </p:grpSp>
      <p:grpSp>
        <p:nvGrpSpPr>
          <p:cNvPr id="21" name="Gruppieren 20"/>
          <p:cNvGrpSpPr/>
          <p:nvPr/>
        </p:nvGrpSpPr>
        <p:grpSpPr>
          <a:xfrm>
            <a:off x="2192455" y="3239701"/>
            <a:ext cx="2883398" cy="508388"/>
            <a:chOff x="2192455" y="3819561"/>
            <a:chExt cx="2883398" cy="508388"/>
          </a:xfrm>
        </p:grpSpPr>
        <p:sp>
          <p:nvSpPr>
            <p:cNvPr id="13" name="Rechteck 12"/>
            <p:cNvSpPr/>
            <p:nvPr/>
          </p:nvSpPr>
          <p:spPr>
            <a:xfrm>
              <a:off x="2192455" y="3819561"/>
              <a:ext cx="2883398" cy="508388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t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1793875" algn="l"/>
                </a:tabLst>
                <a:defRPr/>
              </a:pPr>
              <a:r>
                <a:rPr kumimoji="0" lang="de-DE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MPI_Bsend</a:t>
              </a:r>
              <a:r>
                <a:rPr kumimoji="0" lang="de-DE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	</a:t>
              </a:r>
              <a:r>
                <a:rPr kumimoji="0" lang="de-DE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MPI_Recv</a:t>
              </a:r>
              <a:endParaRPr kumimoji="0" lang="de-DE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1793875" algn="l"/>
                </a:tabLst>
                <a:defRPr/>
              </a:pPr>
              <a:r>
                <a:rPr kumimoji="0" lang="de-DE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MPI_A	MPI_B</a:t>
              </a:r>
            </a:p>
          </p:txBody>
        </p:sp>
        <p:cxnSp>
          <p:nvCxnSpPr>
            <p:cNvPr id="16" name="Gerade Verbindung mit Pfeil 15"/>
            <p:cNvCxnSpPr/>
            <p:nvPr/>
          </p:nvCxnSpPr>
          <p:spPr>
            <a:xfrm flipH="1">
              <a:off x="2907562" y="4160023"/>
              <a:ext cx="1137137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dash"/>
              <a:tailEnd type="triangle"/>
            </a:ln>
            <a:effectLst/>
          </p:spPr>
        </p:cxnSp>
        <p:cxnSp>
          <p:nvCxnSpPr>
            <p:cNvPr id="17" name="Gerade Verbindung mit Pfeil 16"/>
            <p:cNvCxnSpPr/>
            <p:nvPr/>
          </p:nvCxnSpPr>
          <p:spPr>
            <a:xfrm>
              <a:off x="3239471" y="3995905"/>
              <a:ext cx="80522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</p:grpSp>
      <p:grpSp>
        <p:nvGrpSpPr>
          <p:cNvPr id="22" name="Gruppieren 21"/>
          <p:cNvGrpSpPr/>
          <p:nvPr/>
        </p:nvGrpSpPr>
        <p:grpSpPr>
          <a:xfrm>
            <a:off x="2192455" y="5504199"/>
            <a:ext cx="2883398" cy="508388"/>
            <a:chOff x="2192455" y="4745921"/>
            <a:chExt cx="2883398" cy="508388"/>
          </a:xfrm>
        </p:grpSpPr>
        <p:sp>
          <p:nvSpPr>
            <p:cNvPr id="14" name="Rechteck 13"/>
            <p:cNvSpPr/>
            <p:nvPr/>
          </p:nvSpPr>
          <p:spPr>
            <a:xfrm>
              <a:off x="2192455" y="4745921"/>
              <a:ext cx="2883398" cy="508388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t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1793875" algn="l"/>
                </a:tabLst>
                <a:defRPr/>
              </a:pPr>
              <a:r>
                <a:rPr kumimoji="0" lang="de-DE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MPI_A	</a:t>
              </a:r>
              <a:r>
                <a:rPr kumimoji="0" lang="de-DE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MPI_Recv</a:t>
              </a:r>
              <a:endParaRPr kumimoji="0" lang="de-DE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>
                  <a:tab pos="1793875" algn="l"/>
                </a:tabLst>
                <a:defRPr/>
              </a:pPr>
              <a:r>
                <a:rPr kumimoji="0" lang="de-DE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MPI_Bsend</a:t>
              </a:r>
              <a:r>
                <a:rPr kumimoji="0" lang="de-DE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	MPI_B</a:t>
              </a:r>
            </a:p>
          </p:txBody>
        </p:sp>
        <p:cxnSp>
          <p:nvCxnSpPr>
            <p:cNvPr id="18" name="Gerade Verbindung mit Pfeil 17"/>
            <p:cNvCxnSpPr/>
            <p:nvPr/>
          </p:nvCxnSpPr>
          <p:spPr>
            <a:xfrm flipV="1">
              <a:off x="3248997" y="4922265"/>
              <a:ext cx="795702" cy="196354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triangle"/>
            </a:ln>
            <a:effectLst/>
          </p:spPr>
        </p:cxnSp>
        <p:cxnSp>
          <p:nvCxnSpPr>
            <p:cNvPr id="19" name="Gerade Verbindung mit Pfeil 18"/>
            <p:cNvCxnSpPr/>
            <p:nvPr/>
          </p:nvCxnSpPr>
          <p:spPr>
            <a:xfrm flipH="1" flipV="1">
              <a:off x="2907562" y="4922265"/>
              <a:ext cx="1137139" cy="164118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dash"/>
              <a:tailEnd type="triangle"/>
            </a:ln>
            <a:effectLst/>
          </p:spPr>
        </p:cxnSp>
      </p:grpSp>
      <p:sp>
        <p:nvSpPr>
          <p:cNvPr id="23" name="Rechteck 22"/>
          <p:cNvSpPr/>
          <p:nvPr/>
        </p:nvSpPr>
        <p:spPr>
          <a:xfrm>
            <a:off x="360363" y="664143"/>
            <a:ext cx="6838950" cy="202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sym typeface="Wingdings" panose="05000000000000000000" pitchFamily="2" charset="2"/>
              </a:rPr>
              <a:t> img5a.png</a:t>
            </a:r>
            <a:endParaRPr lang="de-DE" sz="1600" dirty="0"/>
          </a:p>
        </p:txBody>
      </p:sp>
      <p:sp>
        <p:nvSpPr>
          <p:cNvPr id="27" name="Rechteck 26"/>
          <p:cNvSpPr/>
          <p:nvPr/>
        </p:nvSpPr>
        <p:spPr>
          <a:xfrm>
            <a:off x="360363" y="2738264"/>
            <a:ext cx="6838950" cy="202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sym typeface="Wingdings" panose="05000000000000000000" pitchFamily="2" charset="2"/>
              </a:rPr>
              <a:t> img5b.png</a:t>
            </a:r>
            <a:endParaRPr lang="de-DE" sz="1600" dirty="0"/>
          </a:p>
        </p:txBody>
      </p:sp>
      <p:sp>
        <p:nvSpPr>
          <p:cNvPr id="28" name="Rechteck 27"/>
          <p:cNvSpPr/>
          <p:nvPr/>
        </p:nvSpPr>
        <p:spPr>
          <a:xfrm>
            <a:off x="360363" y="4968505"/>
            <a:ext cx="6838950" cy="2020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sym typeface="Wingdings" panose="05000000000000000000" pitchFamily="2" charset="2"/>
              </a:rPr>
              <a:t> img5c.png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98218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Benutzerdefiniert</PresentationFormat>
  <Paragraphs>50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Arbeitsblatt</vt:lpstr>
      <vt:lpstr>Microsoft Excel-Arbeitsblatt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hpcrabe</dc:creator>
  <cp:lastModifiedBy>hpcrabe</cp:lastModifiedBy>
  <cp:revision>20</cp:revision>
  <dcterms:created xsi:type="dcterms:W3CDTF">2019-02-19T09:31:40Z</dcterms:created>
  <dcterms:modified xsi:type="dcterms:W3CDTF">2020-05-31T10:22:22Z</dcterms:modified>
</cp:coreProperties>
</file>