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2" r:id="rId1"/>
    <p:sldMasterId id="2147483842" r:id="rId2"/>
  </p:sldMasterIdLst>
  <p:notesMasterIdLst>
    <p:notesMasterId r:id="rId4"/>
  </p:notesMasterIdLst>
  <p:handoutMasterIdLst>
    <p:handoutMasterId r:id="rId5"/>
  </p:handoutMasterIdLst>
  <p:sldIdLst>
    <p:sldId id="382" r:id="rId3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2"/>
        </a:solidFill>
        <a:latin typeface="Arial Rounded MT Bold" panose="020F07040305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00"/>
    <a:srgbClr val="0000FF"/>
    <a:srgbClr val="FFCC99"/>
    <a:srgbClr val="FF0000"/>
    <a:srgbClr val="FF9966"/>
    <a:srgbClr val="CCECFF"/>
    <a:srgbClr val="FFFF99"/>
    <a:srgbClr val="800080"/>
    <a:srgbClr val="660066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8" autoAdjust="0"/>
    <p:restoredTop sz="92280" autoAdjust="0"/>
  </p:normalViewPr>
  <p:slideViewPr>
    <p:cSldViewPr>
      <p:cViewPr varScale="1">
        <p:scale>
          <a:sx n="103" d="100"/>
          <a:sy n="103" d="100"/>
        </p:scale>
        <p:origin x="218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>
      <p:cViewPr>
        <p:scale>
          <a:sx n="150" d="100"/>
          <a:sy n="150" d="100"/>
        </p:scale>
        <p:origin x="198" y="5562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6413" cy="482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273" tIns="48136" rIns="96273" bIns="48136" numCol="1" anchor="t" anchorCtr="0" compatLnSpc="1">
            <a:prstTxWarp prst="textNoShape">
              <a:avLst/>
            </a:prstTxWarp>
          </a:bodyPr>
          <a:lstStyle>
            <a:lvl1pPr defTabSz="962025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8438" y="0"/>
            <a:ext cx="3125787" cy="482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6273" tIns="48136" rIns="96273" bIns="48136" numCol="1" anchor="t" anchorCtr="0" compatLnSpc="1">
            <a:prstTxWarp prst="textNoShape">
              <a:avLst/>
            </a:prstTxWarp>
          </a:bodyPr>
          <a:lstStyle>
            <a:lvl1pPr algn="r" defTabSz="962025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9094" name="Text Box 6"/>
          <p:cNvSpPr txBox="1">
            <a:spLocks noChangeArrowheads="1"/>
          </p:cNvSpPr>
          <p:nvPr/>
        </p:nvSpPr>
        <p:spPr bwMode="auto">
          <a:xfrm>
            <a:off x="749300" y="9520238"/>
            <a:ext cx="5267325" cy="5254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47471" rIns="0" bIns="47471" anchor="ctr"/>
          <a:lstStyle>
            <a:lvl1pPr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1pPr>
            <a:lvl2pPr marL="742950" indent="-285750"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2pPr>
            <a:lvl3pPr marL="1143000" indent="-228600"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3pPr>
            <a:lvl4pPr marL="1600200" indent="-228600"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4pPr>
            <a:lvl5pPr marL="2057400" indent="-228600" defTabSz="944563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5pPr>
            <a:lvl6pPr marL="2514600" indent="-228600" defTabSz="944563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6pPr>
            <a:lvl7pPr marL="2971800" indent="-228600" defTabSz="944563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7pPr>
            <a:lvl8pPr marL="3429000" indent="-228600" defTabSz="944563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8pPr>
            <a:lvl9pPr marL="3886200" indent="-228600" defTabSz="944563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de-DE" sz="1100">
                <a:solidFill>
                  <a:schemeClr val="tx1"/>
                </a:solidFill>
                <a:latin typeface="Arial" panose="020B0604020202020204" pitchFamily="34" charset="0"/>
              </a:rPr>
              <a:t>—   Fortran Basic Syntax    —</a:t>
            </a:r>
          </a:p>
          <a:p>
            <a:pPr algn="ctr">
              <a:spcBef>
                <a:spcPct val="0"/>
              </a:spcBef>
            </a:pPr>
            <a:r>
              <a:rPr lang="en-US" altLang="de-DE" sz="1100">
                <a:solidFill>
                  <a:schemeClr val="tx1"/>
                </a:solidFill>
                <a:latin typeface="Arial" panose="020B0604020202020204" pitchFamily="34" charset="0"/>
              </a:rPr>
              <a:t>F1-</a:t>
            </a:r>
            <a:fld id="{84255A69-F2DA-41A0-903D-67F76F11C815}" type="slidenum">
              <a:rPr lang="en-US" altLang="de-DE" sz="1100">
                <a:solidFill>
                  <a:schemeClr val="tx1"/>
                </a:solidFill>
                <a:latin typeface="Arial" panose="020B0604020202020204" pitchFamily="34" charset="0"/>
              </a:rPr>
              <a:pPr algn="ctr">
                <a:spcBef>
                  <a:spcPct val="0"/>
                </a:spcBef>
              </a:pPr>
              <a:t>‹Nr.›</a:t>
            </a:fld>
            <a:endParaRPr lang="en-US" altLang="de-DE" sz="11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243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t" anchorCtr="0" compatLnSpc="1">
            <a:prstTxWarp prst="textNoShape">
              <a:avLst/>
            </a:prstTxWarp>
          </a:bodyPr>
          <a:lstStyle>
            <a:lvl1pPr defTabSz="922338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t" anchorCtr="0" compatLnSpc="1">
            <a:prstTxWarp prst="textNoShape">
              <a:avLst/>
            </a:prstTxWarp>
          </a:bodyPr>
          <a:lstStyle>
            <a:lvl1pPr algn="r" defTabSz="922338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26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Klicken Sie, um die Textformatierung des Masters zu bearbeiten.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b" anchorCtr="0" compatLnSpc="1">
            <a:prstTxWarp prst="textNoShape">
              <a:avLst/>
            </a:prstTxWarp>
          </a:bodyPr>
          <a:lstStyle>
            <a:lvl1pPr defTabSz="922338">
              <a:spcBef>
                <a:spcPct val="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306" tIns="46153" rIns="92306" bIns="46153" numCol="1" anchor="b" anchorCtr="0" compatLnSpc="1">
            <a:prstTxWarp prst="textNoShape">
              <a:avLst/>
            </a:prstTxWarp>
          </a:bodyPr>
          <a:lstStyle>
            <a:lvl1pPr algn="r" defTabSz="922338">
              <a:spcBef>
                <a:spcPct val="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E2CC2386-C686-4908-9428-81390B62079E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99748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1143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3429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85750" y="928688"/>
            <a:ext cx="8643938" cy="41751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85750" y="1428750"/>
            <a:ext cx="8643938" cy="4429125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438400" y="6392863"/>
            <a:ext cx="48006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de-DE" dirty="0" smtClean="0"/>
              <a:t>Error/gap in MPI-3 MPI_NEIGHBOR_ALLTOALL</a:t>
            </a:r>
            <a:endParaRPr lang="de-DE" alt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1"/>
          </p:nvPr>
        </p:nvSpPr>
        <p:spPr>
          <a:xfrm>
            <a:off x="838200" y="6389891"/>
            <a:ext cx="1347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04.03.2009</a:t>
            </a:r>
            <a:endParaRPr lang="de-DE"/>
          </a:p>
        </p:txBody>
      </p:sp>
      <p:sp>
        <p:nvSpPr>
          <p:cNvPr id="6" name="Datumsplatzhalter 4"/>
          <p:cNvSpPr txBox="1">
            <a:spLocks/>
          </p:cNvSpPr>
          <p:nvPr userDrawn="1"/>
        </p:nvSpPr>
        <p:spPr>
          <a:xfrm>
            <a:off x="828072" y="6390706"/>
            <a:ext cx="1347788" cy="365125"/>
          </a:xfrm>
          <a:prstGeom prst="rect">
            <a:avLst/>
          </a:prstGeom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sz="1800" kern="1200" smtClean="0">
                <a:solidFill>
                  <a:schemeClr val="bg1"/>
                </a:solidFill>
                <a:latin typeface="Calibri" pitchFamily="-65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50000"/>
              </a:spcBef>
              <a:spcAft>
                <a:spcPct val="0"/>
              </a:spcAft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50000"/>
              </a:spcBef>
              <a:spcAft>
                <a:spcPct val="0"/>
              </a:spcAft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50000"/>
              </a:spcBef>
              <a:spcAft>
                <a:spcPct val="0"/>
              </a:spcAft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50000"/>
              </a:spcBef>
              <a:spcAft>
                <a:spcPct val="0"/>
              </a:spcAft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2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1200" dirty="0" smtClean="0"/>
              <a:t>Rolf</a:t>
            </a:r>
            <a:r>
              <a:rPr lang="de-DE" sz="1200" baseline="0" dirty="0" smtClean="0"/>
              <a:t> Rabenseifner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4347984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>
          <a:xfrm>
            <a:off x="0" y="6357938"/>
            <a:ext cx="9144000" cy="500062"/>
          </a:xfrm>
          <a:prstGeom prst="rect">
            <a:avLst/>
          </a:prstGeom>
          <a:solidFill>
            <a:srgbClr val="51595D"/>
          </a:solidFill>
          <a:ln>
            <a:solidFill>
              <a:srgbClr val="5159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anchor="ctr"/>
          <a:lstStyle/>
          <a:p>
            <a:pPr algn="ctr">
              <a:defRPr/>
            </a:pPr>
            <a:endParaRPr lang="de-DE" dirty="0">
              <a:latin typeface="+mj-lt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538163" y="6357938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sp>
        <p:nvSpPr>
          <p:cNvPr id="6" name="TextBox 11"/>
          <p:cNvSpPr txBox="1"/>
          <p:nvPr/>
        </p:nvSpPr>
        <p:spPr>
          <a:xfrm>
            <a:off x="2209800" y="6357938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 dirty="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sp>
        <p:nvSpPr>
          <p:cNvPr id="7" name="TextBox 13"/>
          <p:cNvSpPr txBox="1"/>
          <p:nvPr/>
        </p:nvSpPr>
        <p:spPr>
          <a:xfrm>
            <a:off x="7162800" y="6316663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 dirty="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pic>
        <p:nvPicPr>
          <p:cNvPr id="8" name="Picture 15" descr="hlrs-logo_transtuerkis.t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259513" y="381000"/>
            <a:ext cx="2270125" cy="479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6"/>
          <p:cNvSpPr txBox="1"/>
          <p:nvPr/>
        </p:nvSpPr>
        <p:spPr>
          <a:xfrm>
            <a:off x="214313" y="642938"/>
            <a:ext cx="8213725" cy="276225"/>
          </a:xfrm>
          <a:prstGeom prst="rect">
            <a:avLst/>
          </a:prstGeom>
          <a:noFill/>
        </p:spPr>
        <p:txBody>
          <a:bodyPr lIns="91321" tIns="45661" rIns="91321" bIns="45661">
            <a:spAutoFit/>
          </a:bodyPr>
          <a:lstStyle/>
          <a:p>
            <a:pPr defTabSz="9132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200" dirty="0">
                <a:solidFill>
                  <a:srgbClr val="1F497D"/>
                </a:solidFill>
                <a:latin typeface="+mj-lt"/>
              </a:rPr>
              <a:t>:::::   :::::   :::::   :::::   :::::   :::::   :::::   :::::   :::::   :::::   :::::   :::::   :::::   :::::   :::::   :::::   :::::   :::::   :::::   :::::   :::::   :::::   </a:t>
            </a:r>
          </a:p>
        </p:txBody>
      </p:sp>
      <p:pic>
        <p:nvPicPr>
          <p:cNvPr id="10" name="Picture 17" descr="UNI-SYMBOL-400d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638" y="5930900"/>
            <a:ext cx="3175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7" descr="UNI-SYMBOL-400d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638" y="5930900"/>
            <a:ext cx="3175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 descr="UNI-SYMBOL-400dp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638" y="5930900"/>
            <a:ext cx="3175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/>
          <p:cNvSpPr txBox="1"/>
          <p:nvPr userDrawn="1"/>
        </p:nvSpPr>
        <p:spPr>
          <a:xfrm>
            <a:off x="2339753" y="6386513"/>
            <a:ext cx="49645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1pPr>
            <a:lvl2pPr marL="742950" indent="-28575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2pPr>
            <a:lvl3pPr marL="11430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3pPr>
            <a:lvl4pPr marL="16002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4pPr>
            <a:lvl5pPr marL="20574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Bug in MPI-3 MPI_NEIGHBOR_ALLTOALL</a:t>
            </a:r>
            <a:endParaRPr kumimoji="0" lang="de-DE" altLang="de-DE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4" name="Picture 16" descr="seite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9063"/>
            <a:ext cx="9144000" cy="234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159" y="1571614"/>
            <a:ext cx="8101042" cy="1470025"/>
          </a:xfrm>
        </p:spPr>
        <p:txBody>
          <a:bodyPr>
            <a:noAutofit/>
          </a:bodyPr>
          <a:lstStyle>
            <a:lvl1pPr algn="l">
              <a:defRPr sz="3600" b="0" baseline="0">
                <a:latin typeface="Calibri" pitchFamily="34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7158" y="3143248"/>
            <a:ext cx="7115180" cy="428628"/>
          </a:xfrm>
        </p:spPr>
        <p:txBody>
          <a:bodyPr>
            <a:normAutofit/>
          </a:bodyPr>
          <a:lstStyle>
            <a:lvl1pPr marL="0" indent="0" algn="l">
              <a:buNone/>
              <a:defRPr sz="2000" b="0" baseline="0">
                <a:solidFill>
                  <a:schemeClr val="tx1"/>
                </a:solidFill>
                <a:latin typeface="Calibri" pitchFamily="34" charset="0"/>
              </a:defRPr>
            </a:lvl1pPr>
            <a:lvl2pPr marL="45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04.03.2009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29256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357938"/>
            <a:ext cx="9144000" cy="500062"/>
          </a:xfrm>
          <a:prstGeom prst="rect">
            <a:avLst/>
          </a:prstGeom>
          <a:solidFill>
            <a:srgbClr val="51595D"/>
          </a:solidFill>
          <a:ln>
            <a:solidFill>
              <a:srgbClr val="5159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5" rIns="91431" bIns="45715" anchor="ctr"/>
          <a:lstStyle/>
          <a:p>
            <a:pPr algn="ctr">
              <a:defRPr/>
            </a:pPr>
            <a:endParaRPr lang="de-DE" dirty="0">
              <a:latin typeface="+mj-lt"/>
            </a:endParaRPr>
          </a:p>
        </p:txBody>
      </p:sp>
      <p:sp>
        <p:nvSpPr>
          <p:cNvPr id="2051" name="Title Placeholder 1"/>
          <p:cNvSpPr>
            <a:spLocks noGrp="1"/>
          </p:cNvSpPr>
          <p:nvPr>
            <p:ph type="title"/>
          </p:nvPr>
        </p:nvSpPr>
        <p:spPr bwMode="auto">
          <a:xfrm>
            <a:off x="285750" y="928688"/>
            <a:ext cx="8643938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Titelmasterformat durch Klicken bearbeiten</a:t>
            </a:r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5750" y="1428750"/>
            <a:ext cx="8643938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5" rIns="91431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Textmasterformate durch Klicken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38400" y="6392863"/>
            <a:ext cx="4800600" cy="365125"/>
          </a:xfrm>
          <a:prstGeom prst="rect">
            <a:avLst/>
          </a:prstGeom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>
            <a:lvl1pPr algn="ctr">
              <a:defRPr sz="16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de-DE" dirty="0" smtClean="0"/>
              <a:t>Error/gap in MPI-3 MPI_NEIGHBOR_ALLTOALL</a:t>
            </a:r>
            <a:endParaRPr lang="de-DE" altLang="de-DE" dirty="0"/>
          </a:p>
        </p:txBody>
      </p:sp>
      <p:sp>
        <p:nvSpPr>
          <p:cNvPr id="11" name="TextBox 10"/>
          <p:cNvSpPr txBox="1"/>
          <p:nvPr/>
        </p:nvSpPr>
        <p:spPr>
          <a:xfrm>
            <a:off x="538163" y="6357938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9800" y="6357938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 dirty="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800" y="6316663"/>
            <a:ext cx="371475" cy="349250"/>
          </a:xfrm>
          <a:prstGeom prst="rect">
            <a:avLst/>
          </a:prstGeom>
          <a:noFill/>
        </p:spPr>
        <p:txBody>
          <a:bodyPr lIns="91431" tIns="45715" rIns="91431" bIns="45715">
            <a:spAutoFit/>
          </a:bodyPr>
          <a:lstStyle/>
          <a:p>
            <a:pPr>
              <a:defRPr/>
            </a:pPr>
            <a:r>
              <a:rPr lang="de-DE" sz="1800" dirty="0">
                <a:solidFill>
                  <a:schemeClr val="bg1"/>
                </a:solidFill>
                <a:latin typeface="Calibri" pitchFamily="-65" charset="0"/>
              </a:rPr>
              <a:t>::</a:t>
            </a:r>
          </a:p>
        </p:txBody>
      </p:sp>
      <p:pic>
        <p:nvPicPr>
          <p:cNvPr id="2057" name="Picture 15" descr="hlrs-logo_transtuerkis.t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259513" y="381000"/>
            <a:ext cx="2270125" cy="479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Date Placeholder 14"/>
          <p:cNvSpPr>
            <a:spLocks noGrp="1"/>
          </p:cNvSpPr>
          <p:nvPr>
            <p:ph type="dt" sz="half" idx="2"/>
          </p:nvPr>
        </p:nvSpPr>
        <p:spPr>
          <a:xfrm>
            <a:off x="838200" y="6407150"/>
            <a:ext cx="1347788" cy="365125"/>
          </a:xfrm>
          <a:prstGeom prst="rect">
            <a:avLst/>
          </a:prstGeom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>
            <a:lvl1pPr>
              <a:defRPr sz="1800" smtClean="0">
                <a:solidFill>
                  <a:schemeClr val="bg1"/>
                </a:solidFill>
                <a:latin typeface="Calibri" pitchFamily="-65" charset="0"/>
              </a:defRPr>
            </a:lvl1pPr>
          </a:lstStyle>
          <a:p>
            <a:pPr>
              <a:defRPr/>
            </a:pPr>
            <a:r>
              <a:rPr lang="de-DE" smtClean="0"/>
              <a:t>04.03.2009</a:t>
            </a:r>
            <a:endParaRPr lang="de-DE"/>
          </a:p>
        </p:txBody>
      </p:sp>
      <p:sp>
        <p:nvSpPr>
          <p:cNvPr id="17" name="TextBox 16"/>
          <p:cNvSpPr txBox="1"/>
          <p:nvPr/>
        </p:nvSpPr>
        <p:spPr>
          <a:xfrm>
            <a:off x="214313" y="642938"/>
            <a:ext cx="8213725" cy="276225"/>
          </a:xfrm>
          <a:prstGeom prst="rect">
            <a:avLst/>
          </a:prstGeom>
          <a:noFill/>
        </p:spPr>
        <p:txBody>
          <a:bodyPr lIns="91321" tIns="45661" rIns="91321" bIns="45661">
            <a:spAutoFit/>
          </a:bodyPr>
          <a:lstStyle/>
          <a:p>
            <a:pPr defTabSz="91321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200" dirty="0">
                <a:solidFill>
                  <a:srgbClr val="1F497D"/>
                </a:solidFill>
                <a:latin typeface="+mj-lt"/>
              </a:rPr>
              <a:t>:::::   :::::   :::::   :::::   :::::   :::::   :::::   :::::   :::::   :::::   :::::   :::::   :::::   :::::   :::::   :::::   :::::   :::::   :::::   :::::   :::::   :::::   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7358063" y="6357938"/>
            <a:ext cx="1785937" cy="40011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1pPr>
            <a:lvl2pPr marL="742950" indent="-28575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2pPr>
            <a:lvl3pPr marL="11430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3pPr>
            <a:lvl4pPr marL="16002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4pPr>
            <a:lvl5pPr marL="2057400" indent="-228600"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chemeClr val="tx2"/>
                </a:solidFill>
                <a:latin typeface="Arial Rounded MT Bold" panose="020F0704030504030204" pitchFamily="34" charset="0"/>
              </a:defRPr>
            </a:lvl9pPr>
          </a:lstStyle>
          <a:p>
            <a:pPr algn="r"/>
            <a:fld id="{3DB8BC3B-3153-4AEB-A9C4-7708D8D556CE}" type="slidenum">
              <a:rPr lang="de-DE" altLang="de-DE" smtClean="0">
                <a:solidFill>
                  <a:schemeClr val="bg1"/>
                </a:solidFill>
              </a:rPr>
              <a:pPr algn="r"/>
              <a:t>‹Nr.›</a:t>
            </a:fld>
            <a:endParaRPr lang="de-DE" altLang="de-DE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 pitchFamily="-65" charset="-128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154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307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461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615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1313" indent="-3413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 pitchFamily="-65" charset="-128"/>
        </a:defRPr>
      </a:lvl1pPr>
      <a:lvl2pPr marL="741363" indent="-28416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F5559"/>
          </a:solidFill>
          <a:latin typeface="Calibri" pitchFamily="34" charset="0"/>
          <a:ea typeface="ＭＳ Ｐゴシック" pitchFamily="-65" charset="-128"/>
          <a:cs typeface="ＭＳ Ｐゴシック"/>
        </a:defRPr>
      </a:lvl2pPr>
      <a:lvl3pPr marL="11414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/>
        </a:defRPr>
      </a:lvl3pPr>
      <a:lvl4pPr marL="15986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F5559"/>
          </a:solidFill>
          <a:latin typeface="Calibri" pitchFamily="34" charset="0"/>
          <a:ea typeface="ＭＳ Ｐゴシック" pitchFamily="-65" charset="-128"/>
          <a:cs typeface="ＭＳ Ｐゴシック"/>
        </a:defRPr>
      </a:lvl4pPr>
      <a:lvl5pPr marL="20558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/>
        </a:defRPr>
      </a:lvl5pPr>
      <a:lvl6pPr marL="2514345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8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2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5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7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1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5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8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2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4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8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1" name="Title Placeholder 1"/>
          <p:cNvSpPr>
            <a:spLocks noGrp="1"/>
          </p:cNvSpPr>
          <p:nvPr>
            <p:ph type="title"/>
          </p:nvPr>
        </p:nvSpPr>
        <p:spPr bwMode="auto">
          <a:xfrm>
            <a:off x="285750" y="928688"/>
            <a:ext cx="8643938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Titelmasterformat durch Klicken bearbeiten</a:t>
            </a:r>
          </a:p>
        </p:txBody>
      </p:sp>
      <p:sp>
        <p:nvSpPr>
          <p:cNvPr id="174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85750" y="1428750"/>
            <a:ext cx="8643938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5" rIns="91431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Textmasterformate durch Klicken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19" name="Date Placeholder 14"/>
          <p:cNvSpPr>
            <a:spLocks noGrp="1"/>
          </p:cNvSpPr>
          <p:nvPr>
            <p:ph type="dt" sz="half" idx="2"/>
          </p:nvPr>
        </p:nvSpPr>
        <p:spPr>
          <a:xfrm>
            <a:off x="838200" y="6407150"/>
            <a:ext cx="1347788" cy="365125"/>
          </a:xfrm>
          <a:prstGeom prst="rect">
            <a:avLst/>
          </a:prstGeom>
        </p:spPr>
        <p:txBody>
          <a:bodyPr vert="horz" wrap="square" lIns="91431" tIns="45715" rIns="91431" bIns="45715" numCol="1" anchor="ctr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bg1"/>
                </a:solidFill>
                <a:latin typeface="Calibri" pitchFamily="-65" charset="0"/>
              </a:defRPr>
            </a:lvl1pPr>
          </a:lstStyle>
          <a:p>
            <a:pPr>
              <a:defRPr/>
            </a:pPr>
            <a:r>
              <a:rPr lang="de-DE" smtClean="0"/>
              <a:t>04.03.2009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942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</p:sldLayoutIdLst>
  <p:transition>
    <p:fade/>
  </p:transition>
  <p:timing>
    <p:tnLst>
      <p:par>
        <p:cTn id="1" dur="indefinite" restart="never" nodeType="tmRoot"/>
      </p:par>
    </p:tnLst>
  </p:timing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 pitchFamily="-65" charset="-128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5pPr>
      <a:lvl6pPr marL="457154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6pPr>
      <a:lvl7pPr marL="914307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7pPr>
      <a:lvl8pPr marL="1371461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8pPr>
      <a:lvl9pPr marL="1828615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1313" indent="-3413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 pitchFamily="-65" charset="-128"/>
        </a:defRPr>
      </a:lvl1pPr>
      <a:lvl2pPr marL="741363" indent="-28416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F5559"/>
          </a:solidFill>
          <a:latin typeface="Calibri" pitchFamily="34" charset="0"/>
          <a:ea typeface="ＭＳ Ｐゴシック" pitchFamily="-65" charset="-128"/>
          <a:cs typeface="ＭＳ Ｐゴシック"/>
        </a:defRPr>
      </a:lvl2pPr>
      <a:lvl3pPr marL="11414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/>
        </a:defRPr>
      </a:lvl3pPr>
      <a:lvl4pPr marL="15986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0F5559"/>
          </a:solidFill>
          <a:latin typeface="Calibri" pitchFamily="34" charset="0"/>
          <a:ea typeface="ＭＳ Ｐゴシック" pitchFamily="-65" charset="-128"/>
          <a:cs typeface="ＭＳ Ｐゴシック"/>
        </a:defRPr>
      </a:lvl4pPr>
      <a:lvl5pPr marL="2055813" indent="-227013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Calibri" pitchFamily="34" charset="0"/>
          <a:ea typeface="ＭＳ Ｐゴシック" pitchFamily="-65" charset="-128"/>
          <a:cs typeface="ＭＳ Ｐゴシック"/>
        </a:defRPr>
      </a:lvl5pPr>
      <a:lvl6pPr marL="2514345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8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2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5" indent="-228576" algn="l" defTabSz="9143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7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1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5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8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2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4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8" algn="l" defTabSz="9143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changes to MPI-3.1 MPI_NEIGHBOR_ALLGATHER 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85750" y="1428751"/>
            <a:ext cx="8643938" cy="1304592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smtClean="0"/>
              <a:t>MPI-4.0 Issue </a:t>
            </a:r>
            <a:r>
              <a:rPr lang="en-US" sz="1600" dirty="0" smtClean="0"/>
              <a:t>153, </a:t>
            </a:r>
            <a:r>
              <a:rPr lang="en-US" sz="1600" dirty="0"/>
              <a:t>PR 153 + Issue 320, PR 312</a:t>
            </a:r>
            <a:endParaRPr lang="en-US" sz="1600" dirty="0" smtClean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de-DE" dirty="0" smtClean="0"/>
              <a:t>Error/gap in MPI-3 MPI_NEIGHBOR_ALLTOALL</a:t>
            </a:r>
            <a:endParaRPr lang="en-US" altLang="de-DE" dirty="0"/>
          </a:p>
        </p:txBody>
      </p:sp>
      <p:sp>
        <p:nvSpPr>
          <p:cNvPr id="43" name="Textfeld 42"/>
          <p:cNvSpPr txBox="1"/>
          <p:nvPr/>
        </p:nvSpPr>
        <p:spPr>
          <a:xfrm>
            <a:off x="555149" y="3177497"/>
            <a:ext cx="6479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sendbuf</a:t>
            </a:r>
            <a:endParaRPr lang="en-US" sz="11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4" name="Textfeld 43"/>
          <p:cNvSpPr txBox="1"/>
          <p:nvPr/>
        </p:nvSpPr>
        <p:spPr>
          <a:xfrm>
            <a:off x="566000" y="3486692"/>
            <a:ext cx="6190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recvbuf</a:t>
            </a:r>
            <a:endParaRPr lang="en-US" sz="11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7" name="Rechteck 46"/>
          <p:cNvSpPr/>
          <p:nvPr/>
        </p:nvSpPr>
        <p:spPr>
          <a:xfrm>
            <a:off x="1678208" y="3234288"/>
            <a:ext cx="370802" cy="15603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  <a:cs typeface="Arial" panose="020B0604020202020204" pitchFamily="34" charset="0"/>
              </a:rPr>
              <a:t>100</a:t>
            </a:r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54" name="Gruppieren 53"/>
          <p:cNvGrpSpPr/>
          <p:nvPr/>
        </p:nvGrpSpPr>
        <p:grpSpPr>
          <a:xfrm>
            <a:off x="1274717" y="3540628"/>
            <a:ext cx="1171604" cy="156035"/>
            <a:chOff x="6484763" y="4149080"/>
            <a:chExt cx="2047677" cy="241865"/>
          </a:xfrm>
        </p:grpSpPr>
        <p:sp>
          <p:nvSpPr>
            <p:cNvPr id="55" name="Rechteck 54"/>
            <p:cNvSpPr/>
            <p:nvPr/>
          </p:nvSpPr>
          <p:spPr>
            <a:xfrm>
              <a:off x="6863675" y="4149080"/>
              <a:ext cx="648072" cy="2418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  <a:cs typeface="Arial" panose="020B0604020202020204" pitchFamily="34" charset="0"/>
                </a:rPr>
                <a:t>300</a:t>
              </a:r>
              <a:endParaRPr lang="en-US" sz="11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6" name="Rechteck 55"/>
            <p:cNvSpPr/>
            <p:nvPr/>
          </p:nvSpPr>
          <p:spPr>
            <a:xfrm>
              <a:off x="7511747" y="4149080"/>
              <a:ext cx="648072" cy="2418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  <a:cs typeface="Arial" panose="020B0604020202020204" pitchFamily="34" charset="0"/>
                </a:rPr>
                <a:t>200</a:t>
              </a:r>
              <a:endParaRPr lang="en-US" sz="11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57" name="Gruppieren 56"/>
            <p:cNvGrpSpPr/>
            <p:nvPr/>
          </p:nvGrpSpPr>
          <p:grpSpPr>
            <a:xfrm>
              <a:off x="8159819" y="4149080"/>
              <a:ext cx="372621" cy="241865"/>
              <a:chOff x="3479299" y="1772816"/>
              <a:chExt cx="372621" cy="288032"/>
            </a:xfrm>
          </p:grpSpPr>
          <p:cxnSp>
            <p:nvCxnSpPr>
              <p:cNvPr id="61" name="Gerader Verbinder 60"/>
              <p:cNvCxnSpPr/>
              <p:nvPr/>
            </p:nvCxnSpPr>
            <p:spPr>
              <a:xfrm>
                <a:off x="3479299" y="1772816"/>
                <a:ext cx="372621" cy="0"/>
              </a:xfrm>
              <a:prstGeom prst="line">
                <a:avLst/>
              </a:prstGeom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Gerader Verbinder 61"/>
              <p:cNvCxnSpPr/>
              <p:nvPr/>
            </p:nvCxnSpPr>
            <p:spPr>
              <a:xfrm>
                <a:off x="3479299" y="2060848"/>
                <a:ext cx="372621" cy="0"/>
              </a:xfrm>
              <a:prstGeom prst="line">
                <a:avLst/>
              </a:prstGeom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uppieren 57"/>
            <p:cNvGrpSpPr/>
            <p:nvPr/>
          </p:nvGrpSpPr>
          <p:grpSpPr>
            <a:xfrm>
              <a:off x="6484763" y="4149080"/>
              <a:ext cx="372621" cy="241865"/>
              <a:chOff x="3631699" y="1925216"/>
              <a:chExt cx="372621" cy="288032"/>
            </a:xfrm>
          </p:grpSpPr>
          <p:cxnSp>
            <p:nvCxnSpPr>
              <p:cNvPr id="59" name="Gerader Verbinder 58"/>
              <p:cNvCxnSpPr/>
              <p:nvPr/>
            </p:nvCxnSpPr>
            <p:spPr>
              <a:xfrm>
                <a:off x="3631699" y="1925216"/>
                <a:ext cx="372621" cy="0"/>
              </a:xfrm>
              <a:prstGeom prst="line">
                <a:avLst/>
              </a:prstGeom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Gerader Verbinder 59"/>
              <p:cNvCxnSpPr/>
              <p:nvPr/>
            </p:nvCxnSpPr>
            <p:spPr>
              <a:xfrm>
                <a:off x="3631699" y="2213248"/>
                <a:ext cx="372621" cy="0"/>
              </a:xfrm>
              <a:prstGeom prst="line">
                <a:avLst/>
              </a:prstGeom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9" name="Rechteck 68"/>
          <p:cNvSpPr/>
          <p:nvPr/>
        </p:nvSpPr>
        <p:spPr>
          <a:xfrm>
            <a:off x="3507477" y="3234288"/>
            <a:ext cx="370802" cy="1560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  <a:cs typeface="Arial" panose="020B0604020202020204" pitchFamily="34" charset="0"/>
              </a:rPr>
              <a:t>200</a:t>
            </a:r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76" name="Gruppieren 75"/>
          <p:cNvGrpSpPr/>
          <p:nvPr/>
        </p:nvGrpSpPr>
        <p:grpSpPr>
          <a:xfrm>
            <a:off x="3106753" y="3540628"/>
            <a:ext cx="1171604" cy="156035"/>
            <a:chOff x="6484763" y="4149080"/>
            <a:chExt cx="2047677" cy="241865"/>
          </a:xfrm>
          <a:noFill/>
        </p:grpSpPr>
        <p:sp>
          <p:nvSpPr>
            <p:cNvPr id="77" name="Rechteck 76"/>
            <p:cNvSpPr/>
            <p:nvPr/>
          </p:nvSpPr>
          <p:spPr>
            <a:xfrm>
              <a:off x="6863675" y="4149080"/>
              <a:ext cx="648072" cy="241865"/>
            </a:xfrm>
            <a:prstGeom prst="rect">
              <a:avLst/>
            </a:prstGeom>
            <a:grpFill/>
            <a:ln w="19050"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  <a:cs typeface="Arial" panose="020B0604020202020204" pitchFamily="34" charset="0"/>
                </a:rPr>
                <a:t>100</a:t>
              </a:r>
              <a:endParaRPr lang="en-US" sz="11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8" name="Rechteck 77"/>
            <p:cNvSpPr/>
            <p:nvPr/>
          </p:nvSpPr>
          <p:spPr>
            <a:xfrm>
              <a:off x="7511747" y="4149080"/>
              <a:ext cx="648072" cy="241865"/>
            </a:xfrm>
            <a:prstGeom prst="rect">
              <a:avLst/>
            </a:prstGeom>
            <a:grpFill/>
            <a:ln w="19050"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  <a:cs typeface="Arial" panose="020B0604020202020204" pitchFamily="34" charset="0"/>
                </a:rPr>
                <a:t>300</a:t>
              </a:r>
              <a:endParaRPr lang="en-US" sz="11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79" name="Gruppieren 78"/>
            <p:cNvGrpSpPr/>
            <p:nvPr/>
          </p:nvGrpSpPr>
          <p:grpSpPr>
            <a:xfrm>
              <a:off x="8159819" y="4149080"/>
              <a:ext cx="372621" cy="241865"/>
              <a:chOff x="3479299" y="1772816"/>
              <a:chExt cx="372621" cy="288032"/>
            </a:xfrm>
            <a:grpFill/>
          </p:grpSpPr>
          <p:cxnSp>
            <p:nvCxnSpPr>
              <p:cNvPr id="83" name="Gerader Verbinder 82"/>
              <p:cNvCxnSpPr/>
              <p:nvPr/>
            </p:nvCxnSpPr>
            <p:spPr>
              <a:xfrm>
                <a:off x="3479299" y="1772816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r Verbinder 83"/>
              <p:cNvCxnSpPr/>
              <p:nvPr/>
            </p:nvCxnSpPr>
            <p:spPr>
              <a:xfrm>
                <a:off x="3479299" y="2060848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uppieren 79"/>
            <p:cNvGrpSpPr/>
            <p:nvPr/>
          </p:nvGrpSpPr>
          <p:grpSpPr>
            <a:xfrm>
              <a:off x="6484763" y="4149080"/>
              <a:ext cx="372621" cy="241865"/>
              <a:chOff x="3631699" y="1925216"/>
              <a:chExt cx="372621" cy="288032"/>
            </a:xfrm>
            <a:grpFill/>
          </p:grpSpPr>
          <p:cxnSp>
            <p:nvCxnSpPr>
              <p:cNvPr id="81" name="Gerader Verbinder 80"/>
              <p:cNvCxnSpPr/>
              <p:nvPr/>
            </p:nvCxnSpPr>
            <p:spPr>
              <a:xfrm>
                <a:off x="3631699" y="1925216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81"/>
              <p:cNvCxnSpPr/>
              <p:nvPr/>
            </p:nvCxnSpPr>
            <p:spPr>
              <a:xfrm>
                <a:off x="3631699" y="2213248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7" name="Rechteck 86"/>
          <p:cNvSpPr/>
          <p:nvPr/>
        </p:nvSpPr>
        <p:spPr>
          <a:xfrm>
            <a:off x="5344585" y="3234288"/>
            <a:ext cx="370802" cy="1560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  <a:cs typeface="Arial" panose="020B0604020202020204" pitchFamily="34" charset="0"/>
              </a:rPr>
              <a:t>300</a:t>
            </a:r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94" name="Gruppieren 93"/>
          <p:cNvGrpSpPr/>
          <p:nvPr/>
        </p:nvGrpSpPr>
        <p:grpSpPr>
          <a:xfrm>
            <a:off x="4938789" y="3540628"/>
            <a:ext cx="1171604" cy="156035"/>
            <a:chOff x="6484763" y="4149080"/>
            <a:chExt cx="2047677" cy="241865"/>
          </a:xfrm>
          <a:noFill/>
        </p:grpSpPr>
        <p:sp>
          <p:nvSpPr>
            <p:cNvPr id="95" name="Rechteck 94"/>
            <p:cNvSpPr/>
            <p:nvPr/>
          </p:nvSpPr>
          <p:spPr>
            <a:xfrm>
              <a:off x="6863675" y="4149080"/>
              <a:ext cx="648072" cy="241865"/>
            </a:xfrm>
            <a:prstGeom prst="rect">
              <a:avLst/>
            </a:prstGeom>
            <a:grpFill/>
            <a:ln w="19050"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  <a:cs typeface="Arial" panose="020B0604020202020204" pitchFamily="34" charset="0"/>
                </a:rPr>
                <a:t>200</a:t>
              </a:r>
              <a:endParaRPr lang="en-US" sz="11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6" name="Rechteck 95"/>
            <p:cNvSpPr/>
            <p:nvPr/>
          </p:nvSpPr>
          <p:spPr>
            <a:xfrm>
              <a:off x="7511747" y="4149080"/>
              <a:ext cx="648072" cy="2418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  <a:cs typeface="Arial" panose="020B0604020202020204" pitchFamily="34" charset="0"/>
                </a:rPr>
                <a:t>100</a:t>
              </a:r>
              <a:endParaRPr lang="en-US" sz="11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97" name="Gruppieren 96"/>
            <p:cNvGrpSpPr/>
            <p:nvPr/>
          </p:nvGrpSpPr>
          <p:grpSpPr>
            <a:xfrm>
              <a:off x="8159819" y="4149080"/>
              <a:ext cx="372621" cy="241865"/>
              <a:chOff x="3479299" y="1772816"/>
              <a:chExt cx="372621" cy="288032"/>
            </a:xfrm>
            <a:grpFill/>
          </p:grpSpPr>
          <p:cxnSp>
            <p:nvCxnSpPr>
              <p:cNvPr id="101" name="Gerader Verbinder 100"/>
              <p:cNvCxnSpPr/>
              <p:nvPr/>
            </p:nvCxnSpPr>
            <p:spPr>
              <a:xfrm>
                <a:off x="3479299" y="1772816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/>
              <p:cNvCxnSpPr/>
              <p:nvPr/>
            </p:nvCxnSpPr>
            <p:spPr>
              <a:xfrm>
                <a:off x="3479299" y="2060848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uppieren 97"/>
            <p:cNvGrpSpPr/>
            <p:nvPr/>
          </p:nvGrpSpPr>
          <p:grpSpPr>
            <a:xfrm>
              <a:off x="6484763" y="4149080"/>
              <a:ext cx="372621" cy="241865"/>
              <a:chOff x="3631699" y="1925216"/>
              <a:chExt cx="372621" cy="288032"/>
            </a:xfrm>
            <a:grpFill/>
          </p:grpSpPr>
          <p:cxnSp>
            <p:nvCxnSpPr>
              <p:cNvPr id="99" name="Gerader Verbinder 98"/>
              <p:cNvCxnSpPr/>
              <p:nvPr/>
            </p:nvCxnSpPr>
            <p:spPr>
              <a:xfrm>
                <a:off x="3631699" y="1925216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Gerader Verbinder 99"/>
              <p:cNvCxnSpPr/>
              <p:nvPr/>
            </p:nvCxnSpPr>
            <p:spPr>
              <a:xfrm>
                <a:off x="3631699" y="2213248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Gerade Verbindung mit Pfeil 120"/>
          <p:cNvCxnSpPr>
            <a:stCxn id="47" idx="3"/>
          </p:cNvCxnSpPr>
          <p:nvPr/>
        </p:nvCxnSpPr>
        <p:spPr>
          <a:xfrm>
            <a:off x="2049008" y="3312306"/>
            <a:ext cx="1274544" cy="30302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 Verbindung mit Pfeil 121"/>
          <p:cNvCxnSpPr>
            <a:stCxn id="69" idx="1"/>
          </p:cNvCxnSpPr>
          <p:nvPr/>
        </p:nvCxnSpPr>
        <p:spPr>
          <a:xfrm flipH="1">
            <a:off x="2233121" y="3312306"/>
            <a:ext cx="1274356" cy="306340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mit Pfeil 122"/>
          <p:cNvCxnSpPr>
            <a:stCxn id="69" idx="3"/>
          </p:cNvCxnSpPr>
          <p:nvPr/>
        </p:nvCxnSpPr>
        <p:spPr>
          <a:xfrm>
            <a:off x="3878279" y="3312306"/>
            <a:ext cx="1277308" cy="30302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mit Pfeil 123"/>
          <p:cNvCxnSpPr>
            <a:stCxn id="87" idx="1"/>
          </p:cNvCxnSpPr>
          <p:nvPr/>
        </p:nvCxnSpPr>
        <p:spPr>
          <a:xfrm flipH="1">
            <a:off x="4065156" y="3312306"/>
            <a:ext cx="1279429" cy="306340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mit Pfeil 126"/>
          <p:cNvCxnSpPr>
            <a:stCxn id="87" idx="3"/>
          </p:cNvCxnSpPr>
          <p:nvPr/>
        </p:nvCxnSpPr>
        <p:spPr>
          <a:xfrm>
            <a:off x="5715387" y="3312306"/>
            <a:ext cx="496503" cy="9914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mit Pfeil 127"/>
          <p:cNvCxnSpPr>
            <a:stCxn id="135" idx="0"/>
          </p:cNvCxnSpPr>
          <p:nvPr/>
        </p:nvCxnSpPr>
        <p:spPr>
          <a:xfrm flipH="1">
            <a:off x="5895405" y="3547860"/>
            <a:ext cx="275415" cy="81977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Gerade Verbindung mit Pfeil 128"/>
          <p:cNvCxnSpPr/>
          <p:nvPr/>
        </p:nvCxnSpPr>
        <p:spPr>
          <a:xfrm>
            <a:off x="1304886" y="3621776"/>
            <a:ext cx="189384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Bogen 129"/>
          <p:cNvSpPr/>
          <p:nvPr/>
        </p:nvSpPr>
        <p:spPr>
          <a:xfrm>
            <a:off x="5862681" y="3386052"/>
            <a:ext cx="467987" cy="467987"/>
          </a:xfrm>
          <a:prstGeom prst="arc">
            <a:avLst>
              <a:gd name="adj1" fmla="val 17112427"/>
              <a:gd name="adj2" fmla="val 5387312"/>
            </a:avLst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Bogen 130"/>
          <p:cNvSpPr/>
          <p:nvPr/>
        </p:nvSpPr>
        <p:spPr>
          <a:xfrm flipH="1">
            <a:off x="1203083" y="3621776"/>
            <a:ext cx="232725" cy="232725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2" name="Gerader Verbinder 131"/>
          <p:cNvCxnSpPr>
            <a:stCxn id="131" idx="2"/>
            <a:endCxn id="130" idx="2"/>
          </p:cNvCxnSpPr>
          <p:nvPr/>
        </p:nvCxnSpPr>
        <p:spPr>
          <a:xfrm flipV="1">
            <a:off x="1319016" y="3854037"/>
            <a:ext cx="4778522" cy="46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mit Pfeil 132"/>
          <p:cNvCxnSpPr>
            <a:stCxn id="47" idx="1"/>
          </p:cNvCxnSpPr>
          <p:nvPr/>
        </p:nvCxnSpPr>
        <p:spPr>
          <a:xfrm flipH="1" flipV="1">
            <a:off x="1274718" y="3311664"/>
            <a:ext cx="403488" cy="642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Bogen 133"/>
          <p:cNvSpPr/>
          <p:nvPr/>
        </p:nvSpPr>
        <p:spPr>
          <a:xfrm flipH="1" flipV="1">
            <a:off x="1176404" y="3068960"/>
            <a:ext cx="242703" cy="242703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Bogen 134"/>
          <p:cNvSpPr/>
          <p:nvPr/>
        </p:nvSpPr>
        <p:spPr>
          <a:xfrm flipV="1">
            <a:off x="5835739" y="3068961"/>
            <a:ext cx="494929" cy="494929"/>
          </a:xfrm>
          <a:prstGeom prst="arc">
            <a:avLst>
              <a:gd name="adj1" fmla="val 17444142"/>
              <a:gd name="adj2" fmla="val 5387312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6" name="Gerader Verbinder 135"/>
          <p:cNvCxnSpPr>
            <a:stCxn id="135" idx="2"/>
            <a:endCxn id="134" idx="2"/>
          </p:cNvCxnSpPr>
          <p:nvPr/>
        </p:nvCxnSpPr>
        <p:spPr>
          <a:xfrm flipH="1" flipV="1">
            <a:off x="1297308" y="3068961"/>
            <a:ext cx="4786809" cy="2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hteck 153"/>
          <p:cNvSpPr/>
          <p:nvPr/>
        </p:nvSpPr>
        <p:spPr>
          <a:xfrm>
            <a:off x="7539925" y="3230728"/>
            <a:ext cx="370802" cy="1560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  <a:cs typeface="Arial" panose="020B0604020202020204" pitchFamily="34" charset="0"/>
              </a:rPr>
              <a:t>100</a:t>
            </a:r>
            <a:endParaRPr lang="en-US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161" name="Gruppieren 160"/>
          <p:cNvGrpSpPr/>
          <p:nvPr/>
        </p:nvGrpSpPr>
        <p:grpSpPr>
          <a:xfrm>
            <a:off x="7138149" y="3537068"/>
            <a:ext cx="1171604" cy="156035"/>
            <a:chOff x="6484763" y="4149080"/>
            <a:chExt cx="2047677" cy="241865"/>
          </a:xfrm>
          <a:noFill/>
        </p:grpSpPr>
        <p:sp>
          <p:nvSpPr>
            <p:cNvPr id="162" name="Rechteck 161"/>
            <p:cNvSpPr/>
            <p:nvPr/>
          </p:nvSpPr>
          <p:spPr>
            <a:xfrm>
              <a:off x="6863675" y="4149080"/>
              <a:ext cx="648072" cy="2418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  <a:cs typeface="Arial" panose="020B0604020202020204" pitchFamily="34" charset="0"/>
                </a:rPr>
                <a:t>100</a:t>
              </a:r>
              <a:endParaRPr lang="en-US" sz="11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3" name="Rechteck 162"/>
            <p:cNvSpPr/>
            <p:nvPr/>
          </p:nvSpPr>
          <p:spPr>
            <a:xfrm>
              <a:off x="7511747" y="4149080"/>
              <a:ext cx="648072" cy="2418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100" dirty="0" smtClean="0">
                  <a:solidFill>
                    <a:schemeClr val="tx1"/>
                  </a:solidFill>
                  <a:cs typeface="Arial" panose="020B0604020202020204" pitchFamily="34" charset="0"/>
                </a:rPr>
                <a:t>100</a:t>
              </a:r>
              <a:endParaRPr lang="en-US" sz="1100" dirty="0">
                <a:solidFill>
                  <a:schemeClr val="tx1"/>
                </a:solidFill>
                <a:cs typeface="Arial" panose="020B0604020202020204" pitchFamily="34" charset="0"/>
              </a:endParaRPr>
            </a:p>
          </p:txBody>
        </p:sp>
        <p:grpSp>
          <p:nvGrpSpPr>
            <p:cNvPr id="164" name="Gruppieren 163"/>
            <p:cNvGrpSpPr/>
            <p:nvPr/>
          </p:nvGrpSpPr>
          <p:grpSpPr>
            <a:xfrm>
              <a:off x="8159819" y="4149080"/>
              <a:ext cx="372621" cy="241865"/>
              <a:chOff x="3479299" y="1772816"/>
              <a:chExt cx="372621" cy="288032"/>
            </a:xfrm>
            <a:grpFill/>
          </p:grpSpPr>
          <p:cxnSp>
            <p:nvCxnSpPr>
              <p:cNvPr id="168" name="Gerader Verbinder 167"/>
              <p:cNvCxnSpPr/>
              <p:nvPr/>
            </p:nvCxnSpPr>
            <p:spPr>
              <a:xfrm>
                <a:off x="3479299" y="1772816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/>
              <p:cNvCxnSpPr/>
              <p:nvPr/>
            </p:nvCxnSpPr>
            <p:spPr>
              <a:xfrm>
                <a:off x="3479299" y="2060848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5" name="Gruppieren 164"/>
            <p:cNvGrpSpPr/>
            <p:nvPr/>
          </p:nvGrpSpPr>
          <p:grpSpPr>
            <a:xfrm>
              <a:off x="6484763" y="4149080"/>
              <a:ext cx="372621" cy="241865"/>
              <a:chOff x="3631699" y="1925216"/>
              <a:chExt cx="372621" cy="288032"/>
            </a:xfrm>
            <a:grpFill/>
          </p:grpSpPr>
          <p:cxnSp>
            <p:nvCxnSpPr>
              <p:cNvPr id="166" name="Gerader Verbinder 165"/>
              <p:cNvCxnSpPr/>
              <p:nvPr/>
            </p:nvCxnSpPr>
            <p:spPr>
              <a:xfrm>
                <a:off x="3631699" y="1925216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/>
              <p:cNvCxnSpPr/>
              <p:nvPr/>
            </p:nvCxnSpPr>
            <p:spPr>
              <a:xfrm>
                <a:off x="3631699" y="2213248"/>
                <a:ext cx="372621" cy="0"/>
              </a:xfrm>
              <a:prstGeom prst="line">
                <a:avLst/>
              </a:prstGeom>
              <a:grpFill/>
              <a:ln w="1905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80" name="Gerade Verbindung mit Pfeil 179"/>
          <p:cNvCxnSpPr>
            <a:stCxn id="154" idx="3"/>
          </p:cNvCxnSpPr>
          <p:nvPr/>
        </p:nvCxnSpPr>
        <p:spPr>
          <a:xfrm>
            <a:off x="7910727" y="3308746"/>
            <a:ext cx="502935" cy="1027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mit Pfeil 180"/>
          <p:cNvCxnSpPr>
            <a:stCxn id="188" idx="0"/>
          </p:cNvCxnSpPr>
          <p:nvPr/>
        </p:nvCxnSpPr>
        <p:spPr>
          <a:xfrm flipH="1">
            <a:off x="8097177" y="3547860"/>
            <a:ext cx="275415" cy="81977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Gerade Verbindung mit Pfeil 181"/>
          <p:cNvCxnSpPr/>
          <p:nvPr/>
        </p:nvCxnSpPr>
        <p:spPr>
          <a:xfrm>
            <a:off x="7155953" y="3621776"/>
            <a:ext cx="189384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Bogen 182"/>
          <p:cNvSpPr/>
          <p:nvPr/>
        </p:nvSpPr>
        <p:spPr>
          <a:xfrm>
            <a:off x="8064453" y="3386052"/>
            <a:ext cx="467987" cy="467987"/>
          </a:xfrm>
          <a:prstGeom prst="arc">
            <a:avLst>
              <a:gd name="adj1" fmla="val 17112427"/>
              <a:gd name="adj2" fmla="val 5387312"/>
            </a:avLst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Bogen 183"/>
          <p:cNvSpPr/>
          <p:nvPr/>
        </p:nvSpPr>
        <p:spPr>
          <a:xfrm flipH="1">
            <a:off x="7054150" y="3621776"/>
            <a:ext cx="232725" cy="232725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5" name="Gerader Verbinder 184"/>
          <p:cNvCxnSpPr>
            <a:endCxn id="183" idx="2"/>
          </p:cNvCxnSpPr>
          <p:nvPr/>
        </p:nvCxnSpPr>
        <p:spPr>
          <a:xfrm>
            <a:off x="7155953" y="3854037"/>
            <a:ext cx="1143357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Gerade Verbindung mit Pfeil 185"/>
          <p:cNvCxnSpPr>
            <a:stCxn id="154" idx="1"/>
          </p:cNvCxnSpPr>
          <p:nvPr/>
        </p:nvCxnSpPr>
        <p:spPr>
          <a:xfrm flipH="1">
            <a:off x="7134183" y="3308746"/>
            <a:ext cx="405742" cy="2918"/>
          </a:xfrm>
          <a:prstGeom prst="straightConnector1">
            <a:avLst/>
          </a:prstGeom>
          <a:ln>
            <a:solidFill>
              <a:srgbClr val="0000FF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Bogen 186"/>
          <p:cNvSpPr/>
          <p:nvPr/>
        </p:nvSpPr>
        <p:spPr>
          <a:xfrm flipH="1" flipV="1">
            <a:off x="7035869" y="3068960"/>
            <a:ext cx="242703" cy="242703"/>
          </a:xfrm>
          <a:prstGeom prst="arc">
            <a:avLst>
              <a:gd name="adj1" fmla="val 16200000"/>
              <a:gd name="adj2" fmla="val 5387312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Bogen 187"/>
          <p:cNvSpPr/>
          <p:nvPr/>
        </p:nvSpPr>
        <p:spPr>
          <a:xfrm flipV="1">
            <a:off x="8037511" y="3068961"/>
            <a:ext cx="494929" cy="494929"/>
          </a:xfrm>
          <a:prstGeom prst="arc">
            <a:avLst>
              <a:gd name="adj1" fmla="val 17444142"/>
              <a:gd name="adj2" fmla="val 5387312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9" name="Gerader Verbinder 188"/>
          <p:cNvCxnSpPr>
            <a:stCxn id="188" idx="2"/>
            <a:endCxn id="187" idx="2"/>
          </p:cNvCxnSpPr>
          <p:nvPr/>
        </p:nvCxnSpPr>
        <p:spPr>
          <a:xfrm flipH="1" flipV="1">
            <a:off x="7156773" y="3068961"/>
            <a:ext cx="1129116" cy="2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11175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ortran_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6_Fortran_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Fortran_Design</Template>
  <TotalTime>0</TotalTime>
  <Words>35</Words>
  <Application>Microsoft Office PowerPoint</Application>
  <PresentationFormat>Bildschirmpräsentation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Arial Rounded MT Bold</vt:lpstr>
      <vt:lpstr>Calibri</vt:lpstr>
      <vt:lpstr>Fortran_Design</vt:lpstr>
      <vt:lpstr>16_Fortran_Design</vt:lpstr>
      <vt:lpstr>Proposed changes to MPI-3.1 MPI_NEIGHBOR_ALLGATHER </vt:lpstr>
    </vt:vector>
  </TitlesOfParts>
  <Company>HLRS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title page</dc:title>
  <dc:creator>See title page</dc:creator>
  <cp:lastModifiedBy>Rolf Rabenseifner</cp:lastModifiedBy>
  <cp:revision>619</cp:revision>
  <cp:lastPrinted>2019-10-06T16:36:58Z</cp:lastPrinted>
  <dcterms:created xsi:type="dcterms:W3CDTF">1998-05-19T06:04:18Z</dcterms:created>
  <dcterms:modified xsi:type="dcterms:W3CDTF">2020-11-05T11:16:30Z</dcterms:modified>
</cp:coreProperties>
</file>