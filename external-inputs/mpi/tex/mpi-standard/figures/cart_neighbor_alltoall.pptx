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12" r:id="rId1"/>
    <p:sldMasterId id="2147483842" r:id="rId2"/>
  </p:sldMasterIdLst>
  <p:notesMasterIdLst>
    <p:notesMasterId r:id="rId4"/>
  </p:notesMasterIdLst>
  <p:handoutMasterIdLst>
    <p:handoutMasterId r:id="rId5"/>
  </p:handoutMasterIdLst>
  <p:sldIdLst>
    <p:sldId id="380" r:id="rId3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50000"/>
      </a:spcBef>
      <a:spcAft>
        <a:spcPct val="0"/>
      </a:spcAft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00"/>
    <a:srgbClr val="0000FF"/>
    <a:srgbClr val="FFCC99"/>
    <a:srgbClr val="FF0000"/>
    <a:srgbClr val="FF9966"/>
    <a:srgbClr val="CCECFF"/>
    <a:srgbClr val="FFFF99"/>
    <a:srgbClr val="800080"/>
    <a:srgbClr val="660066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48" autoAdjust="0"/>
    <p:restoredTop sz="92280" autoAdjust="0"/>
  </p:normalViewPr>
  <p:slideViewPr>
    <p:cSldViewPr>
      <p:cViewPr varScale="1">
        <p:scale>
          <a:sx n="103" d="100"/>
          <a:sy n="103" d="100"/>
        </p:scale>
        <p:origin x="218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>
      <p:cViewPr>
        <p:scale>
          <a:sx n="150" d="100"/>
          <a:sy n="150" d="100"/>
        </p:scale>
        <p:origin x="198" y="5562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6413" cy="482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273" tIns="48136" rIns="96273" bIns="48136" numCol="1" anchor="t" anchorCtr="0" compatLnSpc="1">
            <a:prstTxWarp prst="textNoShape">
              <a:avLst/>
            </a:prstTxWarp>
          </a:bodyPr>
          <a:lstStyle>
            <a:lvl1pPr defTabSz="962025">
              <a:spcBef>
                <a:spcPct val="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08438" y="0"/>
            <a:ext cx="3125787" cy="482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273" tIns="48136" rIns="96273" bIns="48136" numCol="1" anchor="t" anchorCtr="0" compatLnSpc="1">
            <a:prstTxWarp prst="textNoShape">
              <a:avLst/>
            </a:prstTxWarp>
          </a:bodyPr>
          <a:lstStyle>
            <a:lvl1pPr algn="r" defTabSz="962025">
              <a:spcBef>
                <a:spcPct val="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9094" name="Text Box 6"/>
          <p:cNvSpPr txBox="1">
            <a:spLocks noChangeArrowheads="1"/>
          </p:cNvSpPr>
          <p:nvPr/>
        </p:nvSpPr>
        <p:spPr bwMode="auto">
          <a:xfrm>
            <a:off x="749300" y="9520238"/>
            <a:ext cx="5267325" cy="5254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47471" rIns="0" bIns="47471" anchor="ctr"/>
          <a:lstStyle>
            <a:lvl1pPr defTabSz="944563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1pPr>
            <a:lvl2pPr marL="742950" indent="-285750" defTabSz="944563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2pPr>
            <a:lvl3pPr marL="1143000" indent="-228600" defTabSz="944563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3pPr>
            <a:lvl4pPr marL="1600200" indent="-228600" defTabSz="944563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4pPr>
            <a:lvl5pPr marL="2057400" indent="-228600" defTabSz="944563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5pPr>
            <a:lvl6pPr marL="2514600" indent="-228600" defTabSz="944563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6pPr>
            <a:lvl7pPr marL="2971800" indent="-228600" defTabSz="944563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7pPr>
            <a:lvl8pPr marL="3429000" indent="-228600" defTabSz="944563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8pPr>
            <a:lvl9pPr marL="3886200" indent="-228600" defTabSz="944563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de-DE" sz="1100">
                <a:solidFill>
                  <a:schemeClr val="tx1"/>
                </a:solidFill>
                <a:latin typeface="Arial" panose="020B0604020202020204" pitchFamily="34" charset="0"/>
              </a:rPr>
              <a:t>—   Fortran Basic Syntax    —</a:t>
            </a:r>
          </a:p>
          <a:p>
            <a:pPr algn="ctr">
              <a:spcBef>
                <a:spcPct val="0"/>
              </a:spcBef>
            </a:pPr>
            <a:r>
              <a:rPr lang="en-US" altLang="de-DE" sz="1100">
                <a:solidFill>
                  <a:schemeClr val="tx1"/>
                </a:solidFill>
                <a:latin typeface="Arial" panose="020B0604020202020204" pitchFamily="34" charset="0"/>
              </a:rPr>
              <a:t>F1-</a:t>
            </a:r>
            <a:fld id="{84255A69-F2DA-41A0-903D-67F76F11C815}" type="slidenum">
              <a:rPr lang="en-US" altLang="de-DE" sz="1100">
                <a:solidFill>
                  <a:schemeClr val="tx1"/>
                </a:solidFill>
                <a:latin typeface="Arial" panose="020B0604020202020204" pitchFamily="34" charset="0"/>
              </a:rPr>
              <a:pPr algn="ctr">
                <a:spcBef>
                  <a:spcPct val="0"/>
                </a:spcBef>
              </a:pPr>
              <a:t>‹Nr.›</a:t>
            </a:fld>
            <a:endParaRPr lang="en-US" altLang="de-DE" sz="11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243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306" tIns="46153" rIns="92306" bIns="46153" numCol="1" anchor="t" anchorCtr="0" compatLnSpc="1">
            <a:prstTxWarp prst="textNoShape">
              <a:avLst/>
            </a:prstTxWarp>
          </a:bodyPr>
          <a:lstStyle>
            <a:lvl1pPr defTabSz="922338">
              <a:spcBef>
                <a:spcPct val="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306" tIns="46153" rIns="92306" bIns="46153" numCol="1" anchor="t" anchorCtr="0" compatLnSpc="1">
            <a:prstTxWarp prst="textNoShape">
              <a:avLst/>
            </a:prstTxWarp>
          </a:bodyPr>
          <a:lstStyle>
            <a:lvl1pPr algn="r" defTabSz="922338">
              <a:spcBef>
                <a:spcPct val="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26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306" tIns="46153" rIns="92306" bIns="46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Klicken Sie, um die Textformatierung des Masters zu bearbeiten.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306" tIns="46153" rIns="92306" bIns="46153" numCol="1" anchor="b" anchorCtr="0" compatLnSpc="1">
            <a:prstTxWarp prst="textNoShape">
              <a:avLst/>
            </a:prstTxWarp>
          </a:bodyPr>
          <a:lstStyle>
            <a:lvl1pPr defTabSz="922338">
              <a:spcBef>
                <a:spcPct val="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306" tIns="46153" rIns="92306" bIns="46153" numCol="1" anchor="b" anchorCtr="0" compatLnSpc="1">
            <a:prstTxWarp prst="textNoShape">
              <a:avLst/>
            </a:prstTxWarp>
          </a:bodyPr>
          <a:lstStyle>
            <a:lvl1pPr algn="r" defTabSz="922338">
              <a:spcBef>
                <a:spcPct val="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E2CC2386-C686-4908-9428-81390B62079E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99748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1143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3429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85750" y="928688"/>
            <a:ext cx="8643938" cy="417512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85750" y="1428750"/>
            <a:ext cx="8643938" cy="4429125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438400" y="6392863"/>
            <a:ext cx="48006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de-DE" dirty="0" smtClean="0"/>
              <a:t>Error/gap in MPI-3 MPI_NEIGHBOR_ALLTOALL</a:t>
            </a:r>
            <a:endParaRPr lang="de-DE" alt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1"/>
          </p:nvPr>
        </p:nvSpPr>
        <p:spPr>
          <a:xfrm>
            <a:off x="838200" y="6389891"/>
            <a:ext cx="1347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04.03.2009</a:t>
            </a:r>
            <a:endParaRPr lang="de-DE"/>
          </a:p>
        </p:txBody>
      </p:sp>
      <p:sp>
        <p:nvSpPr>
          <p:cNvPr id="6" name="Datumsplatzhalter 4"/>
          <p:cNvSpPr txBox="1">
            <a:spLocks/>
          </p:cNvSpPr>
          <p:nvPr userDrawn="1"/>
        </p:nvSpPr>
        <p:spPr>
          <a:xfrm>
            <a:off x="828072" y="6390706"/>
            <a:ext cx="1347788" cy="365125"/>
          </a:xfrm>
          <a:prstGeom prst="rect">
            <a:avLst/>
          </a:prstGeom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sz="1800" kern="1200" smtClean="0">
                <a:solidFill>
                  <a:schemeClr val="bg1"/>
                </a:solidFill>
                <a:latin typeface="Calibri" pitchFamily="-65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50000"/>
              </a:spcBef>
              <a:spcAft>
                <a:spcPct val="0"/>
              </a:spcAft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50000"/>
              </a:spcBef>
              <a:spcAft>
                <a:spcPct val="0"/>
              </a:spcAft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50000"/>
              </a:spcBef>
              <a:spcAft>
                <a:spcPct val="0"/>
              </a:spcAft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50000"/>
              </a:spcBef>
              <a:spcAft>
                <a:spcPct val="0"/>
              </a:spcAft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1200" dirty="0" smtClean="0"/>
              <a:t>Rolf</a:t>
            </a:r>
            <a:r>
              <a:rPr lang="de-DE" sz="1200" baseline="0" dirty="0" smtClean="0"/>
              <a:t> Rabenseifner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4347984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>
          <a:xfrm>
            <a:off x="0" y="6357938"/>
            <a:ext cx="9144000" cy="500062"/>
          </a:xfrm>
          <a:prstGeom prst="rect">
            <a:avLst/>
          </a:prstGeom>
          <a:solidFill>
            <a:srgbClr val="51595D"/>
          </a:solidFill>
          <a:ln>
            <a:solidFill>
              <a:srgbClr val="5159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anchor="ctr"/>
          <a:lstStyle/>
          <a:p>
            <a:pPr algn="ctr">
              <a:defRPr/>
            </a:pPr>
            <a:endParaRPr lang="de-DE" dirty="0">
              <a:latin typeface="+mj-lt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538163" y="6357938"/>
            <a:ext cx="371475" cy="349250"/>
          </a:xfrm>
          <a:prstGeom prst="rect">
            <a:avLst/>
          </a:prstGeom>
          <a:noFill/>
        </p:spPr>
        <p:txBody>
          <a:bodyPr lIns="91431" tIns="45715" rIns="91431" bIns="45715">
            <a:spAutoFit/>
          </a:bodyPr>
          <a:lstStyle/>
          <a:p>
            <a:pPr>
              <a:defRPr/>
            </a:pPr>
            <a:r>
              <a:rPr lang="de-DE" sz="1800">
                <a:solidFill>
                  <a:schemeClr val="bg1"/>
                </a:solidFill>
                <a:latin typeface="Calibri" pitchFamily="-65" charset="0"/>
              </a:rPr>
              <a:t>::</a:t>
            </a:r>
          </a:p>
        </p:txBody>
      </p:sp>
      <p:sp>
        <p:nvSpPr>
          <p:cNvPr id="6" name="TextBox 11"/>
          <p:cNvSpPr txBox="1"/>
          <p:nvPr/>
        </p:nvSpPr>
        <p:spPr>
          <a:xfrm>
            <a:off x="2209800" y="6357938"/>
            <a:ext cx="371475" cy="349250"/>
          </a:xfrm>
          <a:prstGeom prst="rect">
            <a:avLst/>
          </a:prstGeom>
          <a:noFill/>
        </p:spPr>
        <p:txBody>
          <a:bodyPr lIns="91431" tIns="45715" rIns="91431" bIns="45715">
            <a:spAutoFit/>
          </a:bodyPr>
          <a:lstStyle/>
          <a:p>
            <a:pPr>
              <a:defRPr/>
            </a:pPr>
            <a:r>
              <a:rPr lang="de-DE" sz="1800" dirty="0">
                <a:solidFill>
                  <a:schemeClr val="bg1"/>
                </a:solidFill>
                <a:latin typeface="Calibri" pitchFamily="-65" charset="0"/>
              </a:rPr>
              <a:t>::</a:t>
            </a:r>
          </a:p>
        </p:txBody>
      </p:sp>
      <p:sp>
        <p:nvSpPr>
          <p:cNvPr id="7" name="TextBox 13"/>
          <p:cNvSpPr txBox="1"/>
          <p:nvPr/>
        </p:nvSpPr>
        <p:spPr>
          <a:xfrm>
            <a:off x="7162800" y="6316663"/>
            <a:ext cx="371475" cy="349250"/>
          </a:xfrm>
          <a:prstGeom prst="rect">
            <a:avLst/>
          </a:prstGeom>
          <a:noFill/>
        </p:spPr>
        <p:txBody>
          <a:bodyPr lIns="91431" tIns="45715" rIns="91431" bIns="45715">
            <a:spAutoFit/>
          </a:bodyPr>
          <a:lstStyle/>
          <a:p>
            <a:pPr>
              <a:defRPr/>
            </a:pPr>
            <a:r>
              <a:rPr lang="de-DE" sz="1800" dirty="0">
                <a:solidFill>
                  <a:schemeClr val="bg1"/>
                </a:solidFill>
                <a:latin typeface="Calibri" pitchFamily="-65" charset="0"/>
              </a:rPr>
              <a:t>::</a:t>
            </a:r>
          </a:p>
        </p:txBody>
      </p:sp>
      <p:pic>
        <p:nvPicPr>
          <p:cNvPr id="8" name="Picture 15" descr="hlrs-logo_transtuerkis.t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259513" y="381000"/>
            <a:ext cx="2270125" cy="479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6"/>
          <p:cNvSpPr txBox="1"/>
          <p:nvPr/>
        </p:nvSpPr>
        <p:spPr>
          <a:xfrm>
            <a:off x="214313" y="642938"/>
            <a:ext cx="8213725" cy="276225"/>
          </a:xfrm>
          <a:prstGeom prst="rect">
            <a:avLst/>
          </a:prstGeom>
          <a:noFill/>
        </p:spPr>
        <p:txBody>
          <a:bodyPr lIns="91321" tIns="45661" rIns="91321" bIns="45661">
            <a:spAutoFit/>
          </a:bodyPr>
          <a:lstStyle/>
          <a:p>
            <a:pPr defTabSz="91321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200" dirty="0">
                <a:solidFill>
                  <a:srgbClr val="1F497D"/>
                </a:solidFill>
                <a:latin typeface="+mj-lt"/>
              </a:rPr>
              <a:t>:::::   :::::   :::::   :::::   :::::   :::::   :::::   :::::   :::::   :::::   :::::   :::::   :::::   :::::   :::::   :::::   :::::   :::::   :::::   :::::   :::::   :::::   </a:t>
            </a:r>
          </a:p>
        </p:txBody>
      </p:sp>
      <p:pic>
        <p:nvPicPr>
          <p:cNvPr id="10" name="Picture 17" descr="UNI-SYMBOL-400dp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638" y="5930900"/>
            <a:ext cx="3175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7" descr="UNI-SYMBOL-400dp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638" y="5930900"/>
            <a:ext cx="3175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7" descr="UNI-SYMBOL-400dp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638" y="5930900"/>
            <a:ext cx="3175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/>
          <p:cNvSpPr txBox="1"/>
          <p:nvPr userDrawn="1"/>
        </p:nvSpPr>
        <p:spPr>
          <a:xfrm>
            <a:off x="2339753" y="6386513"/>
            <a:ext cx="49645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1pPr>
            <a:lvl2pPr marL="742950" indent="-28575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2pPr>
            <a:lvl3pPr marL="1143000" indent="-22860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3pPr>
            <a:lvl4pPr marL="1600200" indent="-22860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4pPr>
            <a:lvl5pPr marL="2057400" indent="-22860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Bug in MPI-3 MPI_NEIGHBOR_ALLTOALL</a:t>
            </a:r>
            <a:endParaRPr kumimoji="0" lang="de-DE" altLang="de-DE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14" name="Picture 16" descr="seite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29063"/>
            <a:ext cx="9144000" cy="234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159" y="1571614"/>
            <a:ext cx="8101042" cy="1470025"/>
          </a:xfrm>
        </p:spPr>
        <p:txBody>
          <a:bodyPr>
            <a:noAutofit/>
          </a:bodyPr>
          <a:lstStyle>
            <a:lvl1pPr algn="l">
              <a:defRPr sz="3600" b="0" baseline="0">
                <a:latin typeface="Calibri" pitchFamily="34" charset="0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7158" y="3143248"/>
            <a:ext cx="7115180" cy="428628"/>
          </a:xfrm>
        </p:spPr>
        <p:txBody>
          <a:bodyPr>
            <a:normAutofit/>
          </a:bodyPr>
          <a:lstStyle>
            <a:lvl1pPr marL="0" indent="0" algn="l">
              <a:buNone/>
              <a:defRPr sz="2000" b="0" baseline="0">
                <a:solidFill>
                  <a:schemeClr val="tx1"/>
                </a:solidFill>
                <a:latin typeface="Calibri" pitchFamily="34" charset="0"/>
              </a:defRPr>
            </a:lvl1pPr>
            <a:lvl2pPr marL="45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04.03.2009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29256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357938"/>
            <a:ext cx="9144000" cy="500062"/>
          </a:xfrm>
          <a:prstGeom prst="rect">
            <a:avLst/>
          </a:prstGeom>
          <a:solidFill>
            <a:srgbClr val="51595D"/>
          </a:solidFill>
          <a:ln>
            <a:solidFill>
              <a:srgbClr val="5159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anchor="ctr"/>
          <a:lstStyle/>
          <a:p>
            <a:pPr algn="ctr">
              <a:defRPr/>
            </a:pPr>
            <a:endParaRPr lang="de-DE" dirty="0">
              <a:latin typeface="+mj-lt"/>
            </a:endParaRPr>
          </a:p>
        </p:txBody>
      </p:sp>
      <p:sp>
        <p:nvSpPr>
          <p:cNvPr id="2051" name="Title Placeholder 1"/>
          <p:cNvSpPr>
            <a:spLocks noGrp="1"/>
          </p:cNvSpPr>
          <p:nvPr>
            <p:ph type="title"/>
          </p:nvPr>
        </p:nvSpPr>
        <p:spPr bwMode="auto">
          <a:xfrm>
            <a:off x="285750" y="928688"/>
            <a:ext cx="8643938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Titelmasterformat durch Klicken bearbeiten</a:t>
            </a:r>
          </a:p>
        </p:txBody>
      </p:sp>
      <p:sp>
        <p:nvSpPr>
          <p:cNvPr id="20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5750" y="1428750"/>
            <a:ext cx="8643938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5" rIns="91431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Textmasterformate durch Klicken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38400" y="6392863"/>
            <a:ext cx="4800600" cy="365125"/>
          </a:xfrm>
          <a:prstGeom prst="rect">
            <a:avLst/>
          </a:prstGeom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>
            <a:lvl1pPr algn="ctr"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de-DE" dirty="0" smtClean="0"/>
              <a:t>Error/gap in MPI-3 MPI_NEIGHBOR_ALLTOALL</a:t>
            </a:r>
            <a:endParaRPr lang="de-DE" altLang="de-DE" dirty="0"/>
          </a:p>
        </p:txBody>
      </p:sp>
      <p:sp>
        <p:nvSpPr>
          <p:cNvPr id="11" name="TextBox 10"/>
          <p:cNvSpPr txBox="1"/>
          <p:nvPr/>
        </p:nvSpPr>
        <p:spPr>
          <a:xfrm>
            <a:off x="538163" y="6357938"/>
            <a:ext cx="371475" cy="349250"/>
          </a:xfrm>
          <a:prstGeom prst="rect">
            <a:avLst/>
          </a:prstGeom>
          <a:noFill/>
        </p:spPr>
        <p:txBody>
          <a:bodyPr lIns="91431" tIns="45715" rIns="91431" bIns="45715">
            <a:spAutoFit/>
          </a:bodyPr>
          <a:lstStyle/>
          <a:p>
            <a:pPr>
              <a:defRPr/>
            </a:pPr>
            <a:r>
              <a:rPr lang="de-DE" sz="1800">
                <a:solidFill>
                  <a:schemeClr val="bg1"/>
                </a:solidFill>
                <a:latin typeface="Calibri" pitchFamily="-65" charset="0"/>
              </a:rPr>
              <a:t>::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9800" y="6357938"/>
            <a:ext cx="371475" cy="349250"/>
          </a:xfrm>
          <a:prstGeom prst="rect">
            <a:avLst/>
          </a:prstGeom>
          <a:noFill/>
        </p:spPr>
        <p:txBody>
          <a:bodyPr lIns="91431" tIns="45715" rIns="91431" bIns="45715">
            <a:spAutoFit/>
          </a:bodyPr>
          <a:lstStyle/>
          <a:p>
            <a:pPr>
              <a:defRPr/>
            </a:pPr>
            <a:r>
              <a:rPr lang="de-DE" sz="1800" dirty="0">
                <a:solidFill>
                  <a:schemeClr val="bg1"/>
                </a:solidFill>
                <a:latin typeface="Calibri" pitchFamily="-65" charset="0"/>
              </a:rPr>
              <a:t>::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800" y="6316663"/>
            <a:ext cx="371475" cy="349250"/>
          </a:xfrm>
          <a:prstGeom prst="rect">
            <a:avLst/>
          </a:prstGeom>
          <a:noFill/>
        </p:spPr>
        <p:txBody>
          <a:bodyPr lIns="91431" tIns="45715" rIns="91431" bIns="45715">
            <a:spAutoFit/>
          </a:bodyPr>
          <a:lstStyle/>
          <a:p>
            <a:pPr>
              <a:defRPr/>
            </a:pPr>
            <a:r>
              <a:rPr lang="de-DE" sz="1800" dirty="0">
                <a:solidFill>
                  <a:schemeClr val="bg1"/>
                </a:solidFill>
                <a:latin typeface="Calibri" pitchFamily="-65" charset="0"/>
              </a:rPr>
              <a:t>::</a:t>
            </a:r>
          </a:p>
        </p:txBody>
      </p:sp>
      <p:pic>
        <p:nvPicPr>
          <p:cNvPr id="2057" name="Picture 15" descr="hlrs-logo_transtuerkis.t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259513" y="381000"/>
            <a:ext cx="2270125" cy="479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Date Placeholder 14"/>
          <p:cNvSpPr>
            <a:spLocks noGrp="1"/>
          </p:cNvSpPr>
          <p:nvPr>
            <p:ph type="dt" sz="half" idx="2"/>
          </p:nvPr>
        </p:nvSpPr>
        <p:spPr>
          <a:xfrm>
            <a:off x="838200" y="6407150"/>
            <a:ext cx="1347788" cy="365125"/>
          </a:xfrm>
          <a:prstGeom prst="rect">
            <a:avLst/>
          </a:prstGeom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>
            <a:lvl1pPr>
              <a:defRPr sz="1800" smtClean="0">
                <a:solidFill>
                  <a:schemeClr val="bg1"/>
                </a:solidFill>
                <a:latin typeface="Calibri" pitchFamily="-65" charset="0"/>
              </a:defRPr>
            </a:lvl1pPr>
          </a:lstStyle>
          <a:p>
            <a:pPr>
              <a:defRPr/>
            </a:pPr>
            <a:r>
              <a:rPr lang="de-DE" smtClean="0"/>
              <a:t>04.03.2009</a:t>
            </a:r>
            <a:endParaRPr lang="de-DE"/>
          </a:p>
        </p:txBody>
      </p:sp>
      <p:sp>
        <p:nvSpPr>
          <p:cNvPr id="17" name="TextBox 16"/>
          <p:cNvSpPr txBox="1"/>
          <p:nvPr/>
        </p:nvSpPr>
        <p:spPr>
          <a:xfrm>
            <a:off x="214313" y="642938"/>
            <a:ext cx="8213725" cy="276225"/>
          </a:xfrm>
          <a:prstGeom prst="rect">
            <a:avLst/>
          </a:prstGeom>
          <a:noFill/>
        </p:spPr>
        <p:txBody>
          <a:bodyPr lIns="91321" tIns="45661" rIns="91321" bIns="45661">
            <a:spAutoFit/>
          </a:bodyPr>
          <a:lstStyle/>
          <a:p>
            <a:pPr defTabSz="91321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200" dirty="0">
                <a:solidFill>
                  <a:srgbClr val="1F497D"/>
                </a:solidFill>
                <a:latin typeface="+mj-lt"/>
              </a:rPr>
              <a:t>:::::   :::::   :::::   :::::   :::::   :::::   :::::   :::::   :::::   :::::   :::::   :::::   :::::   :::::   :::::   :::::   :::::   :::::   :::::   :::::   :::::   :::::   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7358063" y="6357938"/>
            <a:ext cx="1785937" cy="3968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1pPr>
            <a:lvl2pPr marL="742950" indent="-28575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2pPr>
            <a:lvl3pPr marL="1143000" indent="-22860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3pPr>
            <a:lvl4pPr marL="1600200" indent="-22860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4pPr>
            <a:lvl5pPr marL="2057400" indent="-22860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9pPr>
          </a:lstStyle>
          <a:p>
            <a:pPr algn="r"/>
            <a:fld id="{3DB8BC3B-3153-4AEB-A9C4-7708D8D556CE}" type="slidenum">
              <a:rPr lang="de-DE" altLang="de-DE" smtClean="0">
                <a:solidFill>
                  <a:schemeClr val="bg1"/>
                </a:solidFill>
              </a:rPr>
              <a:pPr algn="r"/>
              <a:t>‹Nr.›</a:t>
            </a:fld>
            <a:endParaRPr lang="de-DE" altLang="de-DE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</p:sldLayoutIdLst>
  <p:transition>
    <p:fade/>
  </p:transition>
  <p:timing>
    <p:tnLst>
      <p:par>
        <p:cTn id="1" dur="indefinite" restart="never" nodeType="tmRoot"/>
      </p:par>
    </p:tnLst>
  </p:timing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 pitchFamily="-65" charset="-128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154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307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461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615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1313" indent="-3413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 pitchFamily="-65" charset="-128"/>
        </a:defRPr>
      </a:lvl1pPr>
      <a:lvl2pPr marL="741363" indent="-28416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0F5559"/>
          </a:solidFill>
          <a:latin typeface="Calibri" pitchFamily="34" charset="0"/>
          <a:ea typeface="ＭＳ Ｐゴシック" pitchFamily="-65" charset="-128"/>
          <a:cs typeface="ＭＳ Ｐゴシック"/>
        </a:defRPr>
      </a:lvl2pPr>
      <a:lvl3pPr marL="1141413" indent="-2270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/>
        </a:defRPr>
      </a:lvl3pPr>
      <a:lvl4pPr marL="1598613" indent="-2270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0F5559"/>
          </a:solidFill>
          <a:latin typeface="Calibri" pitchFamily="34" charset="0"/>
          <a:ea typeface="ＭＳ Ｐゴシック" pitchFamily="-65" charset="-128"/>
          <a:cs typeface="ＭＳ Ｐゴシック"/>
        </a:defRPr>
      </a:lvl4pPr>
      <a:lvl5pPr marL="2055813" indent="-2270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/>
        </a:defRPr>
      </a:lvl5pPr>
      <a:lvl6pPr marL="2514345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8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2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5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7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1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5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8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2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4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8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1" name="Title Placeholder 1"/>
          <p:cNvSpPr>
            <a:spLocks noGrp="1"/>
          </p:cNvSpPr>
          <p:nvPr>
            <p:ph type="title"/>
          </p:nvPr>
        </p:nvSpPr>
        <p:spPr bwMode="auto">
          <a:xfrm>
            <a:off x="285750" y="928688"/>
            <a:ext cx="8643938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Titelmasterformat durch Klicken bearbeiten</a:t>
            </a:r>
          </a:p>
        </p:txBody>
      </p:sp>
      <p:sp>
        <p:nvSpPr>
          <p:cNvPr id="174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5750" y="1428750"/>
            <a:ext cx="8643938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5" rIns="91431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Textmasterformate durch Klicken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19" name="Date Placeholder 14"/>
          <p:cNvSpPr>
            <a:spLocks noGrp="1"/>
          </p:cNvSpPr>
          <p:nvPr>
            <p:ph type="dt" sz="half" idx="2"/>
          </p:nvPr>
        </p:nvSpPr>
        <p:spPr>
          <a:xfrm>
            <a:off x="838200" y="6407150"/>
            <a:ext cx="1347788" cy="365125"/>
          </a:xfrm>
          <a:prstGeom prst="rect">
            <a:avLst/>
          </a:prstGeom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bg1"/>
                </a:solidFill>
                <a:latin typeface="Calibri" pitchFamily="-65" charset="0"/>
              </a:defRPr>
            </a:lvl1pPr>
          </a:lstStyle>
          <a:p>
            <a:pPr>
              <a:defRPr/>
            </a:pPr>
            <a:r>
              <a:rPr lang="de-DE" smtClean="0"/>
              <a:t>04.03.2009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942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</p:sldLayoutIdLst>
  <p:transition>
    <p:fade/>
  </p:transition>
  <p:timing>
    <p:tnLst>
      <p:par>
        <p:cTn id="1" dur="indefinite" restart="never" nodeType="tmRoot"/>
      </p:par>
    </p:tnLst>
  </p:timing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 pitchFamily="-65" charset="-128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154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307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461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615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1313" indent="-3413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 pitchFamily="-65" charset="-128"/>
        </a:defRPr>
      </a:lvl1pPr>
      <a:lvl2pPr marL="741363" indent="-28416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0F5559"/>
          </a:solidFill>
          <a:latin typeface="Calibri" pitchFamily="34" charset="0"/>
          <a:ea typeface="ＭＳ Ｐゴシック" pitchFamily="-65" charset="-128"/>
          <a:cs typeface="ＭＳ Ｐゴシック"/>
        </a:defRPr>
      </a:lvl2pPr>
      <a:lvl3pPr marL="1141413" indent="-2270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/>
        </a:defRPr>
      </a:lvl3pPr>
      <a:lvl4pPr marL="1598613" indent="-2270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0F5559"/>
          </a:solidFill>
          <a:latin typeface="Calibri" pitchFamily="34" charset="0"/>
          <a:ea typeface="ＭＳ Ｐゴシック" pitchFamily="-65" charset="-128"/>
          <a:cs typeface="ＭＳ Ｐゴシック"/>
        </a:defRPr>
      </a:lvl4pPr>
      <a:lvl5pPr marL="2055813" indent="-2270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/>
        </a:defRPr>
      </a:lvl5pPr>
      <a:lvl6pPr marL="2514345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8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2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5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7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1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5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8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2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4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8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changes to MPI-3.1 MPI_NEIGHBOR_ALLTOALL 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85750" y="1414003"/>
            <a:ext cx="8643938" cy="130459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 smtClean="0"/>
              <a:t>MPI-4.0 Issue </a:t>
            </a:r>
            <a:r>
              <a:rPr lang="en-US" sz="1600" dirty="0" smtClean="0"/>
              <a:t>153, PR 153 + Issue 320, PR 312</a:t>
            </a:r>
            <a:endParaRPr lang="en-US" sz="1600" dirty="0" smtClean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de-DE" dirty="0" smtClean="0"/>
              <a:t>Error/gap in MPI-3 MPI_NEIGHBOR_ALLTOALL</a:t>
            </a:r>
            <a:endParaRPr lang="en-US" altLang="de-DE" dirty="0"/>
          </a:p>
        </p:txBody>
      </p:sp>
      <p:sp>
        <p:nvSpPr>
          <p:cNvPr id="5" name="Rechteck 4"/>
          <p:cNvSpPr/>
          <p:nvPr/>
        </p:nvSpPr>
        <p:spPr>
          <a:xfrm>
            <a:off x="1304862" y="2579973"/>
            <a:ext cx="504056" cy="17281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131702" y="2579973"/>
            <a:ext cx="504056" cy="17281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4965293" y="2579973"/>
            <a:ext cx="504056" cy="17281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944822" y="2579973"/>
            <a:ext cx="144016" cy="1728192"/>
          </a:xfrm>
          <a:prstGeom prst="rect">
            <a:avLst/>
          </a:prstGeom>
          <a:noFill/>
          <a:ln w="190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recvbuf</a:t>
            </a:r>
            <a:r>
              <a:rPr lang="en-US" sz="1100" dirty="0" smtClean="0">
                <a:solidFill>
                  <a:schemeClr val="tx1"/>
                </a:solidFill>
              </a:rPr>
              <a:t>[2*d+0] = </a:t>
            </a:r>
            <a:r>
              <a:rPr lang="en-US" sz="1100" dirty="0" smtClean="0">
                <a:solidFill>
                  <a:schemeClr val="tx1"/>
                </a:solidFill>
              </a:rPr>
              <a:t>+</a:t>
            </a:r>
            <a:r>
              <a:rPr lang="en-US" sz="1100" dirty="0" smtClean="0">
                <a:solidFill>
                  <a:schemeClr val="tx1"/>
                </a:solidFill>
              </a:rPr>
              <a:t>30</a:t>
            </a:r>
            <a:r>
              <a:rPr lang="en-US" sz="1100" dirty="0" smtClean="0">
                <a:solidFill>
                  <a:schemeClr val="tx1"/>
                </a:solidFill>
              </a:rPr>
              <a:t>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1160846" y="2579973"/>
            <a:ext cx="144016" cy="17281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sendbuf</a:t>
            </a:r>
            <a:r>
              <a:rPr lang="en-US" sz="1100" dirty="0" smtClean="0">
                <a:solidFill>
                  <a:schemeClr val="tx1"/>
                </a:solidFill>
              </a:rPr>
              <a:t>[2*d+0] = -100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1808918" y="2579973"/>
            <a:ext cx="144016" cy="17281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sendbuf</a:t>
            </a:r>
            <a:r>
              <a:rPr lang="en-US" sz="1100" dirty="0" smtClean="0">
                <a:solidFill>
                  <a:schemeClr val="tx1"/>
                </a:solidFill>
              </a:rPr>
              <a:t>[2*d+1] = +100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2024942" y="2579973"/>
            <a:ext cx="144016" cy="1728192"/>
          </a:xfrm>
          <a:prstGeom prst="rect">
            <a:avLst/>
          </a:prstGeom>
          <a:noFill/>
          <a:ln w="190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recvbuf</a:t>
            </a:r>
            <a:r>
              <a:rPr lang="en-US" sz="1100" dirty="0" smtClean="0">
                <a:solidFill>
                  <a:schemeClr val="tx1"/>
                </a:solidFill>
              </a:rPr>
              <a:t>[2*d+1] = -200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2771662" y="2579973"/>
            <a:ext cx="144016" cy="1728192"/>
          </a:xfrm>
          <a:prstGeom prst="rect">
            <a:avLst/>
          </a:prstGeom>
          <a:noFill/>
          <a:ln w="190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recvbuf</a:t>
            </a:r>
            <a:r>
              <a:rPr lang="en-US" sz="1100" dirty="0" smtClean="0">
                <a:solidFill>
                  <a:schemeClr val="tx1"/>
                </a:solidFill>
              </a:rPr>
              <a:t>[2*d+0] = +100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2987686" y="2579973"/>
            <a:ext cx="144016" cy="17281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sendbuf</a:t>
            </a:r>
            <a:r>
              <a:rPr lang="en-US" sz="1100" dirty="0" smtClean="0">
                <a:solidFill>
                  <a:schemeClr val="tx1"/>
                </a:solidFill>
              </a:rPr>
              <a:t>[2*d+0] = -200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3635758" y="2579973"/>
            <a:ext cx="144016" cy="17281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sendbuf</a:t>
            </a:r>
            <a:r>
              <a:rPr lang="en-US" sz="1100" dirty="0" smtClean="0">
                <a:solidFill>
                  <a:schemeClr val="tx1"/>
                </a:solidFill>
              </a:rPr>
              <a:t>[2*d+1] = +200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3851782" y="2579973"/>
            <a:ext cx="144016" cy="1728192"/>
          </a:xfrm>
          <a:prstGeom prst="rect">
            <a:avLst/>
          </a:prstGeom>
          <a:noFill/>
          <a:ln w="190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recvbuf</a:t>
            </a:r>
            <a:r>
              <a:rPr lang="en-US" sz="1100" dirty="0" smtClean="0">
                <a:solidFill>
                  <a:schemeClr val="tx1"/>
                </a:solidFill>
              </a:rPr>
              <a:t>[2*d+1] = -300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Rechteck 16"/>
          <p:cNvSpPr/>
          <p:nvPr/>
        </p:nvSpPr>
        <p:spPr>
          <a:xfrm>
            <a:off x="4605253" y="2579973"/>
            <a:ext cx="144016" cy="1728192"/>
          </a:xfrm>
          <a:prstGeom prst="rect">
            <a:avLst/>
          </a:prstGeom>
          <a:noFill/>
          <a:ln w="190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recvbuf</a:t>
            </a:r>
            <a:r>
              <a:rPr lang="en-US" sz="1100" dirty="0" smtClean="0">
                <a:solidFill>
                  <a:schemeClr val="tx1"/>
                </a:solidFill>
              </a:rPr>
              <a:t>[2*d+0] = +200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4821277" y="2579973"/>
            <a:ext cx="144016" cy="17281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sendbuf</a:t>
            </a:r>
            <a:r>
              <a:rPr lang="en-US" sz="1100" dirty="0" smtClean="0">
                <a:solidFill>
                  <a:schemeClr val="tx1"/>
                </a:solidFill>
              </a:rPr>
              <a:t>[2*d+0] = -300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9" name="Rechteck 18"/>
          <p:cNvSpPr/>
          <p:nvPr/>
        </p:nvSpPr>
        <p:spPr>
          <a:xfrm>
            <a:off x="5469349" y="2579973"/>
            <a:ext cx="144016" cy="17281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sendbuf</a:t>
            </a:r>
            <a:r>
              <a:rPr lang="en-US" sz="1100" dirty="0" smtClean="0">
                <a:solidFill>
                  <a:schemeClr val="tx1"/>
                </a:solidFill>
              </a:rPr>
              <a:t>[2*d+1] = +300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0" name="Rechteck 19"/>
          <p:cNvSpPr/>
          <p:nvPr/>
        </p:nvSpPr>
        <p:spPr>
          <a:xfrm>
            <a:off x="5685373" y="2579973"/>
            <a:ext cx="144016" cy="1728192"/>
          </a:xfrm>
          <a:prstGeom prst="rect">
            <a:avLst/>
          </a:prstGeom>
          <a:noFill/>
          <a:ln w="190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recvbuf</a:t>
            </a:r>
            <a:r>
              <a:rPr lang="en-US" sz="1100" dirty="0" smtClean="0">
                <a:solidFill>
                  <a:schemeClr val="tx1"/>
                </a:solidFill>
              </a:rPr>
              <a:t>[2*d+1] = </a:t>
            </a:r>
            <a:r>
              <a:rPr lang="en-US" sz="1100" dirty="0" smtClean="0">
                <a:solidFill>
                  <a:schemeClr val="tx1"/>
                </a:solidFill>
              </a:rPr>
              <a:t>-100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27" name="Gerade Verbindung mit Pfeil 26"/>
          <p:cNvCxnSpPr/>
          <p:nvPr/>
        </p:nvCxnSpPr>
        <p:spPr>
          <a:xfrm>
            <a:off x="3786525" y="4164149"/>
            <a:ext cx="818728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/>
          <p:cNvCxnSpPr/>
          <p:nvPr/>
        </p:nvCxnSpPr>
        <p:spPr>
          <a:xfrm>
            <a:off x="1952934" y="4164149"/>
            <a:ext cx="818728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/>
          <p:nvPr/>
        </p:nvCxnSpPr>
        <p:spPr>
          <a:xfrm>
            <a:off x="5611944" y="4164149"/>
            <a:ext cx="444025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/>
          <p:nvPr/>
        </p:nvCxnSpPr>
        <p:spPr>
          <a:xfrm>
            <a:off x="755438" y="4164149"/>
            <a:ext cx="189384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Bogen 30"/>
          <p:cNvSpPr/>
          <p:nvPr/>
        </p:nvSpPr>
        <p:spPr>
          <a:xfrm>
            <a:off x="5839945" y="4164149"/>
            <a:ext cx="360040" cy="360040"/>
          </a:xfrm>
          <a:prstGeom prst="arc">
            <a:avLst>
              <a:gd name="adj1" fmla="val 16200000"/>
              <a:gd name="adj2" fmla="val 5387312"/>
            </a:avLst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Bogen 31"/>
          <p:cNvSpPr/>
          <p:nvPr/>
        </p:nvSpPr>
        <p:spPr>
          <a:xfrm flipH="1">
            <a:off x="571688" y="4164149"/>
            <a:ext cx="360040" cy="360040"/>
          </a:xfrm>
          <a:prstGeom prst="arc">
            <a:avLst>
              <a:gd name="adj1" fmla="val 16200000"/>
              <a:gd name="adj2" fmla="val 5387312"/>
            </a:avLst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Gerader Verbinder 32"/>
          <p:cNvCxnSpPr>
            <a:stCxn id="32" idx="2"/>
            <a:endCxn id="31" idx="2"/>
          </p:cNvCxnSpPr>
          <p:nvPr/>
        </p:nvCxnSpPr>
        <p:spPr>
          <a:xfrm>
            <a:off x="751044" y="4524188"/>
            <a:ext cx="5269585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/>
          <p:cNvCxnSpPr/>
          <p:nvPr/>
        </p:nvCxnSpPr>
        <p:spPr>
          <a:xfrm flipH="1" flipV="1">
            <a:off x="2167841" y="2708920"/>
            <a:ext cx="818728" cy="0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/>
          <p:nvPr/>
        </p:nvCxnSpPr>
        <p:spPr>
          <a:xfrm flipH="1" flipV="1">
            <a:off x="3994681" y="2708920"/>
            <a:ext cx="818728" cy="0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/>
          <p:cNvCxnSpPr/>
          <p:nvPr/>
        </p:nvCxnSpPr>
        <p:spPr>
          <a:xfrm flipH="1" flipV="1">
            <a:off x="715704" y="2708920"/>
            <a:ext cx="444025" cy="0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/>
          <p:nvPr/>
        </p:nvCxnSpPr>
        <p:spPr>
          <a:xfrm flipH="1" flipV="1">
            <a:off x="5826642" y="2708920"/>
            <a:ext cx="189384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Bogen 39"/>
          <p:cNvSpPr/>
          <p:nvPr/>
        </p:nvSpPr>
        <p:spPr>
          <a:xfrm flipH="1" flipV="1">
            <a:off x="571688" y="2348880"/>
            <a:ext cx="360040" cy="360040"/>
          </a:xfrm>
          <a:prstGeom prst="arc">
            <a:avLst>
              <a:gd name="adj1" fmla="val 16200000"/>
              <a:gd name="adj2" fmla="val 5387312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Bogen 40"/>
          <p:cNvSpPr/>
          <p:nvPr/>
        </p:nvSpPr>
        <p:spPr>
          <a:xfrm flipV="1">
            <a:off x="5839736" y="2348880"/>
            <a:ext cx="360040" cy="360040"/>
          </a:xfrm>
          <a:prstGeom prst="arc">
            <a:avLst>
              <a:gd name="adj1" fmla="val 16200000"/>
              <a:gd name="adj2" fmla="val 5387312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" name="Gerader Verbinder 41"/>
          <p:cNvCxnSpPr>
            <a:stCxn id="41" idx="2"/>
            <a:endCxn id="40" idx="2"/>
          </p:cNvCxnSpPr>
          <p:nvPr/>
        </p:nvCxnSpPr>
        <p:spPr>
          <a:xfrm flipH="1">
            <a:off x="751044" y="2348881"/>
            <a:ext cx="5269376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/>
          <p:cNvSpPr txBox="1"/>
          <p:nvPr/>
        </p:nvSpPr>
        <p:spPr>
          <a:xfrm>
            <a:off x="1163914" y="4262578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</a:t>
            </a:r>
            <a:r>
              <a: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0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2991609" y="4262578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</a:t>
            </a:r>
            <a:r>
              <a: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1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feld 64"/>
          <p:cNvSpPr txBox="1"/>
          <p:nvPr/>
        </p:nvSpPr>
        <p:spPr>
          <a:xfrm>
            <a:off x="4819304" y="4262578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</a:t>
            </a:r>
            <a:r>
              <a: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193" name="Gruppieren 192"/>
          <p:cNvGrpSpPr/>
          <p:nvPr/>
        </p:nvGrpSpPr>
        <p:grpSpPr>
          <a:xfrm>
            <a:off x="251520" y="4834299"/>
            <a:ext cx="5775519" cy="785541"/>
            <a:chOff x="251520" y="5266347"/>
            <a:chExt cx="5775519" cy="785541"/>
          </a:xfrm>
        </p:grpSpPr>
        <p:sp>
          <p:nvSpPr>
            <p:cNvPr id="43" name="Textfeld 42"/>
            <p:cNvSpPr txBox="1"/>
            <p:nvPr/>
          </p:nvSpPr>
          <p:spPr>
            <a:xfrm>
              <a:off x="251520" y="5374884"/>
              <a:ext cx="6479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sendbuf</a:t>
              </a:r>
              <a:endParaRPr lang="en-US" sz="110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44" name="Textfeld 43"/>
            <p:cNvSpPr txBox="1"/>
            <p:nvPr/>
          </p:nvSpPr>
          <p:spPr>
            <a:xfrm>
              <a:off x="262371" y="5684079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recvbuf</a:t>
              </a:r>
              <a:endParaRPr lang="en-US" sz="110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grpSp>
          <p:nvGrpSpPr>
            <p:cNvPr id="45" name="Gruppieren 44"/>
            <p:cNvGrpSpPr/>
            <p:nvPr/>
          </p:nvGrpSpPr>
          <p:grpSpPr>
            <a:xfrm>
              <a:off x="971088" y="5431675"/>
              <a:ext cx="1171604" cy="156035"/>
              <a:chOff x="2976344" y="4149080"/>
              <a:chExt cx="2047677" cy="241865"/>
            </a:xfrm>
          </p:grpSpPr>
          <p:sp>
            <p:nvSpPr>
              <p:cNvPr id="46" name="Rechteck 45"/>
              <p:cNvSpPr/>
              <p:nvPr/>
            </p:nvSpPr>
            <p:spPr>
              <a:xfrm>
                <a:off x="3355256" y="4149080"/>
                <a:ext cx="648072" cy="24186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-100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47" name="Rechteck 46"/>
              <p:cNvSpPr/>
              <p:nvPr/>
            </p:nvSpPr>
            <p:spPr>
              <a:xfrm>
                <a:off x="4003328" y="4149080"/>
                <a:ext cx="648072" cy="2418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+100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48" name="Gruppieren 47"/>
              <p:cNvGrpSpPr/>
              <p:nvPr/>
            </p:nvGrpSpPr>
            <p:grpSpPr>
              <a:xfrm>
                <a:off x="4651400" y="4149080"/>
                <a:ext cx="372621" cy="241865"/>
                <a:chOff x="3479299" y="1772816"/>
                <a:chExt cx="372621" cy="288032"/>
              </a:xfrm>
            </p:grpSpPr>
            <p:cxnSp>
              <p:nvCxnSpPr>
                <p:cNvPr id="52" name="Gerader Verbinder 51"/>
                <p:cNvCxnSpPr/>
                <p:nvPr/>
              </p:nvCxnSpPr>
              <p:spPr>
                <a:xfrm>
                  <a:off x="3479299" y="1772816"/>
                  <a:ext cx="37262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Gerader Verbinder 52"/>
                <p:cNvCxnSpPr/>
                <p:nvPr/>
              </p:nvCxnSpPr>
              <p:spPr>
                <a:xfrm>
                  <a:off x="3479299" y="2060848"/>
                  <a:ext cx="37262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uppieren 48"/>
              <p:cNvGrpSpPr/>
              <p:nvPr/>
            </p:nvGrpSpPr>
            <p:grpSpPr>
              <a:xfrm>
                <a:off x="2976344" y="4149080"/>
                <a:ext cx="372621" cy="241865"/>
                <a:chOff x="3631699" y="1925216"/>
                <a:chExt cx="372621" cy="288032"/>
              </a:xfrm>
            </p:grpSpPr>
            <p:cxnSp>
              <p:nvCxnSpPr>
                <p:cNvPr id="50" name="Gerader Verbinder 49"/>
                <p:cNvCxnSpPr/>
                <p:nvPr/>
              </p:nvCxnSpPr>
              <p:spPr>
                <a:xfrm>
                  <a:off x="3631699" y="1925216"/>
                  <a:ext cx="37262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Gerader Verbinder 50"/>
                <p:cNvCxnSpPr/>
                <p:nvPr/>
              </p:nvCxnSpPr>
              <p:spPr>
                <a:xfrm>
                  <a:off x="3631699" y="2213248"/>
                  <a:ext cx="37262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4" name="Gruppieren 53"/>
            <p:cNvGrpSpPr/>
            <p:nvPr/>
          </p:nvGrpSpPr>
          <p:grpSpPr>
            <a:xfrm>
              <a:off x="971088" y="5738015"/>
              <a:ext cx="1171604" cy="156035"/>
              <a:chOff x="6484763" y="4149080"/>
              <a:chExt cx="2047677" cy="241865"/>
            </a:xfrm>
          </p:grpSpPr>
          <p:sp>
            <p:nvSpPr>
              <p:cNvPr id="55" name="Rechteck 54"/>
              <p:cNvSpPr/>
              <p:nvPr/>
            </p:nvSpPr>
            <p:spPr>
              <a:xfrm>
                <a:off x="6863675" y="4149080"/>
                <a:ext cx="648072" cy="2418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00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+300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56" name="Rechteck 55"/>
              <p:cNvSpPr/>
              <p:nvPr/>
            </p:nvSpPr>
            <p:spPr>
              <a:xfrm>
                <a:off x="7511747" y="4149080"/>
                <a:ext cx="648072" cy="24186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-200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57" name="Gruppieren 56"/>
              <p:cNvGrpSpPr/>
              <p:nvPr/>
            </p:nvGrpSpPr>
            <p:grpSpPr>
              <a:xfrm>
                <a:off x="8159819" y="4149080"/>
                <a:ext cx="372621" cy="241865"/>
                <a:chOff x="3479299" y="1772816"/>
                <a:chExt cx="372621" cy="288032"/>
              </a:xfrm>
            </p:grpSpPr>
            <p:cxnSp>
              <p:nvCxnSpPr>
                <p:cNvPr id="61" name="Gerader Verbinder 60"/>
                <p:cNvCxnSpPr/>
                <p:nvPr/>
              </p:nvCxnSpPr>
              <p:spPr>
                <a:xfrm>
                  <a:off x="3479299" y="1772816"/>
                  <a:ext cx="372621" cy="0"/>
                </a:xfrm>
                <a:prstGeom prst="line">
                  <a:avLst/>
                </a:prstGeom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Gerader Verbinder 61"/>
                <p:cNvCxnSpPr/>
                <p:nvPr/>
              </p:nvCxnSpPr>
              <p:spPr>
                <a:xfrm>
                  <a:off x="3479299" y="2060848"/>
                  <a:ext cx="372621" cy="0"/>
                </a:xfrm>
                <a:prstGeom prst="line">
                  <a:avLst/>
                </a:prstGeom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Gruppieren 57"/>
              <p:cNvGrpSpPr/>
              <p:nvPr/>
            </p:nvGrpSpPr>
            <p:grpSpPr>
              <a:xfrm>
                <a:off x="6484763" y="4149080"/>
                <a:ext cx="372621" cy="241865"/>
                <a:chOff x="3631699" y="1925216"/>
                <a:chExt cx="372621" cy="288032"/>
              </a:xfrm>
            </p:grpSpPr>
            <p:cxnSp>
              <p:nvCxnSpPr>
                <p:cNvPr id="59" name="Gerader Verbinder 58"/>
                <p:cNvCxnSpPr/>
                <p:nvPr/>
              </p:nvCxnSpPr>
              <p:spPr>
                <a:xfrm>
                  <a:off x="3631699" y="1925216"/>
                  <a:ext cx="372621" cy="0"/>
                </a:xfrm>
                <a:prstGeom prst="line">
                  <a:avLst/>
                </a:prstGeom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Gerader Verbinder 59"/>
                <p:cNvCxnSpPr/>
                <p:nvPr/>
              </p:nvCxnSpPr>
              <p:spPr>
                <a:xfrm>
                  <a:off x="3631699" y="2213248"/>
                  <a:ext cx="372621" cy="0"/>
                </a:xfrm>
                <a:prstGeom prst="line">
                  <a:avLst/>
                </a:prstGeom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7" name="Gruppieren 66"/>
            <p:cNvGrpSpPr/>
            <p:nvPr/>
          </p:nvGrpSpPr>
          <p:grpSpPr>
            <a:xfrm>
              <a:off x="2803124" y="5431675"/>
              <a:ext cx="1171604" cy="156035"/>
              <a:chOff x="2976344" y="4149080"/>
              <a:chExt cx="2047677" cy="241865"/>
            </a:xfrm>
            <a:noFill/>
          </p:grpSpPr>
          <p:sp>
            <p:nvSpPr>
              <p:cNvPr id="68" name="Rechteck 67"/>
              <p:cNvSpPr/>
              <p:nvPr/>
            </p:nvSpPr>
            <p:spPr>
              <a:xfrm>
                <a:off x="3355256" y="4149080"/>
                <a:ext cx="648072" cy="241865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-200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69" name="Rechteck 68"/>
              <p:cNvSpPr/>
              <p:nvPr/>
            </p:nvSpPr>
            <p:spPr>
              <a:xfrm>
                <a:off x="4003328" y="4149080"/>
                <a:ext cx="648072" cy="241865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+200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70" name="Gruppieren 69"/>
              <p:cNvGrpSpPr/>
              <p:nvPr/>
            </p:nvGrpSpPr>
            <p:grpSpPr>
              <a:xfrm>
                <a:off x="4651400" y="4149080"/>
                <a:ext cx="372621" cy="241865"/>
                <a:chOff x="3479299" y="1772816"/>
                <a:chExt cx="372621" cy="288032"/>
              </a:xfrm>
              <a:grpFill/>
            </p:grpSpPr>
            <p:cxnSp>
              <p:nvCxnSpPr>
                <p:cNvPr id="74" name="Gerader Verbinder 73"/>
                <p:cNvCxnSpPr/>
                <p:nvPr/>
              </p:nvCxnSpPr>
              <p:spPr>
                <a:xfrm>
                  <a:off x="3479299" y="1772816"/>
                  <a:ext cx="372621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Gerader Verbinder 74"/>
                <p:cNvCxnSpPr/>
                <p:nvPr/>
              </p:nvCxnSpPr>
              <p:spPr>
                <a:xfrm>
                  <a:off x="3479299" y="2060848"/>
                  <a:ext cx="372621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" name="Gruppieren 70"/>
              <p:cNvGrpSpPr/>
              <p:nvPr/>
            </p:nvGrpSpPr>
            <p:grpSpPr>
              <a:xfrm>
                <a:off x="2976344" y="4149080"/>
                <a:ext cx="372621" cy="241865"/>
                <a:chOff x="3631699" y="1925216"/>
                <a:chExt cx="372621" cy="288032"/>
              </a:xfrm>
              <a:grpFill/>
            </p:grpSpPr>
            <p:cxnSp>
              <p:nvCxnSpPr>
                <p:cNvPr id="72" name="Gerader Verbinder 71"/>
                <p:cNvCxnSpPr/>
                <p:nvPr/>
              </p:nvCxnSpPr>
              <p:spPr>
                <a:xfrm>
                  <a:off x="3631699" y="1925216"/>
                  <a:ext cx="372621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Gerader Verbinder 72"/>
                <p:cNvCxnSpPr/>
                <p:nvPr/>
              </p:nvCxnSpPr>
              <p:spPr>
                <a:xfrm>
                  <a:off x="3631699" y="2213248"/>
                  <a:ext cx="372621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6" name="Gruppieren 75"/>
            <p:cNvGrpSpPr/>
            <p:nvPr/>
          </p:nvGrpSpPr>
          <p:grpSpPr>
            <a:xfrm>
              <a:off x="2803124" y="5738015"/>
              <a:ext cx="1171604" cy="156035"/>
              <a:chOff x="6484763" y="4149080"/>
              <a:chExt cx="2047677" cy="241865"/>
            </a:xfrm>
            <a:noFill/>
          </p:grpSpPr>
          <p:sp>
            <p:nvSpPr>
              <p:cNvPr id="77" name="Rechteck 76"/>
              <p:cNvSpPr/>
              <p:nvPr/>
            </p:nvSpPr>
            <p:spPr>
              <a:xfrm>
                <a:off x="6863675" y="4149080"/>
                <a:ext cx="648072" cy="241865"/>
              </a:xfrm>
              <a:prstGeom prst="rect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+100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78" name="Rechteck 77"/>
              <p:cNvSpPr/>
              <p:nvPr/>
            </p:nvSpPr>
            <p:spPr>
              <a:xfrm>
                <a:off x="7511747" y="4149080"/>
                <a:ext cx="648072" cy="241865"/>
              </a:xfrm>
              <a:prstGeom prst="rect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-300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79" name="Gruppieren 78"/>
              <p:cNvGrpSpPr/>
              <p:nvPr/>
            </p:nvGrpSpPr>
            <p:grpSpPr>
              <a:xfrm>
                <a:off x="8159819" y="4149080"/>
                <a:ext cx="372621" cy="241865"/>
                <a:chOff x="3479299" y="1772816"/>
                <a:chExt cx="372621" cy="288032"/>
              </a:xfrm>
              <a:grpFill/>
            </p:grpSpPr>
            <p:cxnSp>
              <p:nvCxnSpPr>
                <p:cNvPr id="83" name="Gerader Verbinder 82"/>
                <p:cNvCxnSpPr/>
                <p:nvPr/>
              </p:nvCxnSpPr>
              <p:spPr>
                <a:xfrm>
                  <a:off x="3479299" y="1772816"/>
                  <a:ext cx="372621" cy="0"/>
                </a:xfrm>
                <a:prstGeom prst="line">
                  <a:avLst/>
                </a:prstGeom>
                <a:grpFill/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Gerader Verbinder 83"/>
                <p:cNvCxnSpPr/>
                <p:nvPr/>
              </p:nvCxnSpPr>
              <p:spPr>
                <a:xfrm>
                  <a:off x="3479299" y="2060848"/>
                  <a:ext cx="372621" cy="0"/>
                </a:xfrm>
                <a:prstGeom prst="line">
                  <a:avLst/>
                </a:prstGeom>
                <a:grpFill/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0" name="Gruppieren 79"/>
              <p:cNvGrpSpPr/>
              <p:nvPr/>
            </p:nvGrpSpPr>
            <p:grpSpPr>
              <a:xfrm>
                <a:off x="6484763" y="4149080"/>
                <a:ext cx="372621" cy="241865"/>
                <a:chOff x="3631699" y="1925216"/>
                <a:chExt cx="372621" cy="288032"/>
              </a:xfrm>
              <a:grpFill/>
            </p:grpSpPr>
            <p:cxnSp>
              <p:nvCxnSpPr>
                <p:cNvPr id="81" name="Gerader Verbinder 80"/>
                <p:cNvCxnSpPr/>
                <p:nvPr/>
              </p:nvCxnSpPr>
              <p:spPr>
                <a:xfrm>
                  <a:off x="3631699" y="1925216"/>
                  <a:ext cx="372621" cy="0"/>
                </a:xfrm>
                <a:prstGeom prst="line">
                  <a:avLst/>
                </a:prstGeom>
                <a:grpFill/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Gerader Verbinder 81"/>
                <p:cNvCxnSpPr/>
                <p:nvPr/>
              </p:nvCxnSpPr>
              <p:spPr>
                <a:xfrm>
                  <a:off x="3631699" y="2213248"/>
                  <a:ext cx="372621" cy="0"/>
                </a:xfrm>
                <a:prstGeom prst="line">
                  <a:avLst/>
                </a:prstGeom>
                <a:grpFill/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Gruppieren 84"/>
            <p:cNvGrpSpPr/>
            <p:nvPr/>
          </p:nvGrpSpPr>
          <p:grpSpPr>
            <a:xfrm>
              <a:off x="4635160" y="5431675"/>
              <a:ext cx="1171604" cy="156035"/>
              <a:chOff x="2976344" y="4149080"/>
              <a:chExt cx="2047677" cy="241865"/>
            </a:xfrm>
            <a:noFill/>
          </p:grpSpPr>
          <p:sp>
            <p:nvSpPr>
              <p:cNvPr id="86" name="Rechteck 85"/>
              <p:cNvSpPr/>
              <p:nvPr/>
            </p:nvSpPr>
            <p:spPr>
              <a:xfrm>
                <a:off x="3355256" y="4149080"/>
                <a:ext cx="648072" cy="241865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-300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87" name="Rechteck 86"/>
              <p:cNvSpPr/>
              <p:nvPr/>
            </p:nvSpPr>
            <p:spPr>
              <a:xfrm>
                <a:off x="4003328" y="4149080"/>
                <a:ext cx="648072" cy="241865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+300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88" name="Gruppieren 87"/>
              <p:cNvGrpSpPr/>
              <p:nvPr/>
            </p:nvGrpSpPr>
            <p:grpSpPr>
              <a:xfrm>
                <a:off x="4651400" y="4149080"/>
                <a:ext cx="372621" cy="241865"/>
                <a:chOff x="3479299" y="1772816"/>
                <a:chExt cx="372621" cy="288032"/>
              </a:xfrm>
              <a:grpFill/>
            </p:grpSpPr>
            <p:cxnSp>
              <p:nvCxnSpPr>
                <p:cNvPr id="92" name="Gerader Verbinder 91"/>
                <p:cNvCxnSpPr/>
                <p:nvPr/>
              </p:nvCxnSpPr>
              <p:spPr>
                <a:xfrm>
                  <a:off x="3479299" y="1772816"/>
                  <a:ext cx="372621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Gerader Verbinder 92"/>
                <p:cNvCxnSpPr/>
                <p:nvPr/>
              </p:nvCxnSpPr>
              <p:spPr>
                <a:xfrm>
                  <a:off x="3479299" y="2060848"/>
                  <a:ext cx="372621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" name="Gruppieren 88"/>
              <p:cNvGrpSpPr/>
              <p:nvPr/>
            </p:nvGrpSpPr>
            <p:grpSpPr>
              <a:xfrm>
                <a:off x="2976344" y="4149080"/>
                <a:ext cx="372621" cy="241865"/>
                <a:chOff x="3631699" y="1925216"/>
                <a:chExt cx="372621" cy="288032"/>
              </a:xfrm>
              <a:grpFill/>
            </p:grpSpPr>
            <p:cxnSp>
              <p:nvCxnSpPr>
                <p:cNvPr id="90" name="Gerader Verbinder 89"/>
                <p:cNvCxnSpPr/>
                <p:nvPr/>
              </p:nvCxnSpPr>
              <p:spPr>
                <a:xfrm>
                  <a:off x="3631699" y="1925216"/>
                  <a:ext cx="372621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Gerader Verbinder 90"/>
                <p:cNvCxnSpPr/>
                <p:nvPr/>
              </p:nvCxnSpPr>
              <p:spPr>
                <a:xfrm>
                  <a:off x="3631699" y="2213248"/>
                  <a:ext cx="372621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4" name="Gruppieren 93"/>
            <p:cNvGrpSpPr/>
            <p:nvPr/>
          </p:nvGrpSpPr>
          <p:grpSpPr>
            <a:xfrm>
              <a:off x="4635160" y="5738015"/>
              <a:ext cx="1171604" cy="156035"/>
              <a:chOff x="6484763" y="4149080"/>
              <a:chExt cx="2047677" cy="241865"/>
            </a:xfrm>
            <a:noFill/>
          </p:grpSpPr>
          <p:sp>
            <p:nvSpPr>
              <p:cNvPr id="95" name="Rechteck 94"/>
              <p:cNvSpPr/>
              <p:nvPr/>
            </p:nvSpPr>
            <p:spPr>
              <a:xfrm>
                <a:off x="6863675" y="4149080"/>
                <a:ext cx="648072" cy="241865"/>
              </a:xfrm>
              <a:prstGeom prst="rect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+200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96" name="Rechteck 95"/>
              <p:cNvSpPr/>
              <p:nvPr/>
            </p:nvSpPr>
            <p:spPr>
              <a:xfrm>
                <a:off x="7511747" y="4149080"/>
                <a:ext cx="648072" cy="2418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00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-100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97" name="Gruppieren 96"/>
              <p:cNvGrpSpPr/>
              <p:nvPr/>
            </p:nvGrpSpPr>
            <p:grpSpPr>
              <a:xfrm>
                <a:off x="8159819" y="4149080"/>
                <a:ext cx="372621" cy="241865"/>
                <a:chOff x="3479299" y="1772816"/>
                <a:chExt cx="372621" cy="288032"/>
              </a:xfrm>
              <a:grpFill/>
            </p:grpSpPr>
            <p:cxnSp>
              <p:nvCxnSpPr>
                <p:cNvPr id="101" name="Gerader Verbinder 100"/>
                <p:cNvCxnSpPr/>
                <p:nvPr/>
              </p:nvCxnSpPr>
              <p:spPr>
                <a:xfrm>
                  <a:off x="3479299" y="1772816"/>
                  <a:ext cx="372621" cy="0"/>
                </a:xfrm>
                <a:prstGeom prst="line">
                  <a:avLst/>
                </a:prstGeom>
                <a:grpFill/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Gerader Verbinder 101"/>
                <p:cNvCxnSpPr/>
                <p:nvPr/>
              </p:nvCxnSpPr>
              <p:spPr>
                <a:xfrm>
                  <a:off x="3479299" y="2060848"/>
                  <a:ext cx="372621" cy="0"/>
                </a:xfrm>
                <a:prstGeom prst="line">
                  <a:avLst/>
                </a:prstGeom>
                <a:grpFill/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8" name="Gruppieren 97"/>
              <p:cNvGrpSpPr/>
              <p:nvPr/>
            </p:nvGrpSpPr>
            <p:grpSpPr>
              <a:xfrm>
                <a:off x="6484763" y="4149080"/>
                <a:ext cx="372621" cy="241865"/>
                <a:chOff x="3631699" y="1925216"/>
                <a:chExt cx="372621" cy="288032"/>
              </a:xfrm>
              <a:grpFill/>
            </p:grpSpPr>
            <p:cxnSp>
              <p:nvCxnSpPr>
                <p:cNvPr id="99" name="Gerader Verbinder 98"/>
                <p:cNvCxnSpPr/>
                <p:nvPr/>
              </p:nvCxnSpPr>
              <p:spPr>
                <a:xfrm>
                  <a:off x="3631699" y="1925216"/>
                  <a:ext cx="372621" cy="0"/>
                </a:xfrm>
                <a:prstGeom prst="line">
                  <a:avLst/>
                </a:prstGeom>
                <a:grpFill/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Gerader Verbinder 99"/>
                <p:cNvCxnSpPr/>
                <p:nvPr/>
              </p:nvCxnSpPr>
              <p:spPr>
                <a:xfrm>
                  <a:off x="3631699" y="2213248"/>
                  <a:ext cx="372621" cy="0"/>
                </a:xfrm>
                <a:prstGeom prst="line">
                  <a:avLst/>
                </a:prstGeom>
                <a:grpFill/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21" name="Gerade Verbindung mit Pfeil 120"/>
            <p:cNvCxnSpPr/>
            <p:nvPr/>
          </p:nvCxnSpPr>
          <p:spPr>
            <a:xfrm>
              <a:off x="1929492" y="5509692"/>
              <a:ext cx="1090431" cy="303028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Gerade Verbindung mit Pfeil 121"/>
            <p:cNvCxnSpPr/>
            <p:nvPr/>
          </p:nvCxnSpPr>
          <p:spPr>
            <a:xfrm flipH="1">
              <a:off x="1929492" y="5509692"/>
              <a:ext cx="1086832" cy="306341"/>
            </a:xfrm>
            <a:prstGeom prst="straightConnector1">
              <a:avLst/>
            </a:prstGeom>
            <a:ln>
              <a:solidFill>
                <a:srgbClr val="0000FF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 Verbindung mit Pfeil 122"/>
            <p:cNvCxnSpPr/>
            <p:nvPr/>
          </p:nvCxnSpPr>
          <p:spPr>
            <a:xfrm>
              <a:off x="3761527" y="5509692"/>
              <a:ext cx="1090431" cy="303028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Gerade Verbindung mit Pfeil 123"/>
            <p:cNvCxnSpPr/>
            <p:nvPr/>
          </p:nvCxnSpPr>
          <p:spPr>
            <a:xfrm flipH="1">
              <a:off x="3761527" y="5509692"/>
              <a:ext cx="1086832" cy="306341"/>
            </a:xfrm>
            <a:prstGeom prst="straightConnector1">
              <a:avLst/>
            </a:prstGeom>
            <a:ln>
              <a:solidFill>
                <a:srgbClr val="0000FF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mit Pfeil 126"/>
            <p:cNvCxnSpPr/>
            <p:nvPr/>
          </p:nvCxnSpPr>
          <p:spPr>
            <a:xfrm>
              <a:off x="5591776" y="5520883"/>
              <a:ext cx="316485" cy="87950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Gerade Verbindung mit Pfeil 127"/>
            <p:cNvCxnSpPr>
              <a:stCxn id="135" idx="0"/>
            </p:cNvCxnSpPr>
            <p:nvPr/>
          </p:nvCxnSpPr>
          <p:spPr>
            <a:xfrm flipH="1">
              <a:off x="5591776" y="5745247"/>
              <a:ext cx="275415" cy="81977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Gerade Verbindung mit Pfeil 128"/>
            <p:cNvCxnSpPr/>
            <p:nvPr/>
          </p:nvCxnSpPr>
          <p:spPr>
            <a:xfrm>
              <a:off x="1001257" y="5819163"/>
              <a:ext cx="189384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Bogen 129"/>
            <p:cNvSpPr/>
            <p:nvPr/>
          </p:nvSpPr>
          <p:spPr>
            <a:xfrm>
              <a:off x="5559052" y="5583439"/>
              <a:ext cx="467987" cy="467987"/>
            </a:xfrm>
            <a:prstGeom prst="arc">
              <a:avLst>
                <a:gd name="adj1" fmla="val 17112427"/>
                <a:gd name="adj2" fmla="val 5387312"/>
              </a:avLst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Bogen 130"/>
            <p:cNvSpPr/>
            <p:nvPr/>
          </p:nvSpPr>
          <p:spPr>
            <a:xfrm flipH="1">
              <a:off x="899454" y="5819163"/>
              <a:ext cx="232725" cy="232725"/>
            </a:xfrm>
            <a:prstGeom prst="arc">
              <a:avLst>
                <a:gd name="adj1" fmla="val 16200000"/>
                <a:gd name="adj2" fmla="val 5387312"/>
              </a:avLst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2" name="Gerader Verbinder 131"/>
            <p:cNvCxnSpPr>
              <a:stCxn id="131" idx="2"/>
              <a:endCxn id="130" idx="2"/>
            </p:cNvCxnSpPr>
            <p:nvPr/>
          </p:nvCxnSpPr>
          <p:spPr>
            <a:xfrm flipV="1">
              <a:off x="1015387" y="6051424"/>
              <a:ext cx="4778522" cy="463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Gerade Verbindung mit Pfeil 132"/>
            <p:cNvCxnSpPr/>
            <p:nvPr/>
          </p:nvCxnSpPr>
          <p:spPr>
            <a:xfrm flipH="1">
              <a:off x="971088" y="5509051"/>
              <a:ext cx="213957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Bogen 133"/>
            <p:cNvSpPr/>
            <p:nvPr/>
          </p:nvSpPr>
          <p:spPr>
            <a:xfrm flipH="1" flipV="1">
              <a:off x="872775" y="5266347"/>
              <a:ext cx="242703" cy="242703"/>
            </a:xfrm>
            <a:prstGeom prst="arc">
              <a:avLst>
                <a:gd name="adj1" fmla="val 16200000"/>
                <a:gd name="adj2" fmla="val 5387312"/>
              </a:avLst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Bogen 134"/>
            <p:cNvSpPr/>
            <p:nvPr/>
          </p:nvSpPr>
          <p:spPr>
            <a:xfrm flipV="1">
              <a:off x="5532110" y="5266348"/>
              <a:ext cx="494929" cy="494929"/>
            </a:xfrm>
            <a:prstGeom prst="arc">
              <a:avLst>
                <a:gd name="adj1" fmla="val 17444142"/>
                <a:gd name="adj2" fmla="val 5387312"/>
              </a:avLst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6" name="Gerader Verbinder 135"/>
            <p:cNvCxnSpPr>
              <a:stCxn id="135" idx="2"/>
              <a:endCxn id="134" idx="2"/>
            </p:cNvCxnSpPr>
            <p:nvPr/>
          </p:nvCxnSpPr>
          <p:spPr>
            <a:xfrm flipH="1" flipV="1">
              <a:off x="993679" y="5266348"/>
              <a:ext cx="4786809" cy="2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Textfeld 136"/>
          <p:cNvSpPr txBox="1"/>
          <p:nvPr/>
        </p:nvSpPr>
        <p:spPr>
          <a:xfrm>
            <a:off x="1644612" y="4468106"/>
            <a:ext cx="891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rPr>
              <a:t>rank_source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38" name="Gerader Verbinder 137"/>
          <p:cNvCxnSpPr/>
          <p:nvPr/>
        </p:nvCxnSpPr>
        <p:spPr>
          <a:xfrm>
            <a:off x="2472908" y="4609408"/>
            <a:ext cx="58678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r Verbinder 138"/>
          <p:cNvCxnSpPr/>
          <p:nvPr/>
        </p:nvCxnSpPr>
        <p:spPr>
          <a:xfrm>
            <a:off x="3644446" y="4609408"/>
            <a:ext cx="58678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feld 139"/>
          <p:cNvSpPr txBox="1"/>
          <p:nvPr/>
        </p:nvSpPr>
        <p:spPr>
          <a:xfrm>
            <a:off x="3030563" y="4468106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rPr>
              <a:t>my_rank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41" name="Textfeld 140"/>
          <p:cNvSpPr txBox="1"/>
          <p:nvPr/>
        </p:nvSpPr>
        <p:spPr>
          <a:xfrm>
            <a:off x="4202654" y="4468106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rPr>
              <a:t>rank_dest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46" name="Rechteck 145"/>
          <p:cNvSpPr/>
          <p:nvPr/>
        </p:nvSpPr>
        <p:spPr>
          <a:xfrm>
            <a:off x="7219771" y="2581996"/>
            <a:ext cx="504056" cy="17281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47" name="Rechteck 146"/>
          <p:cNvSpPr/>
          <p:nvPr/>
        </p:nvSpPr>
        <p:spPr>
          <a:xfrm>
            <a:off x="6859731" y="2581996"/>
            <a:ext cx="144016" cy="1728192"/>
          </a:xfrm>
          <a:prstGeom prst="rect">
            <a:avLst/>
          </a:prstGeom>
          <a:noFill/>
          <a:ln w="190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recvbuf</a:t>
            </a:r>
            <a:r>
              <a:rPr lang="en-US" sz="1100" dirty="0" smtClean="0">
                <a:solidFill>
                  <a:schemeClr val="tx1"/>
                </a:solidFill>
              </a:rPr>
              <a:t>[2*d+0] = +100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48" name="Rechteck 147"/>
          <p:cNvSpPr/>
          <p:nvPr/>
        </p:nvSpPr>
        <p:spPr>
          <a:xfrm>
            <a:off x="7075755" y="2581996"/>
            <a:ext cx="144016" cy="17281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sendbuf</a:t>
            </a:r>
            <a:r>
              <a:rPr lang="en-US" sz="1100" dirty="0" smtClean="0">
                <a:solidFill>
                  <a:schemeClr val="tx1"/>
                </a:solidFill>
              </a:rPr>
              <a:t>[2*d+0] = -100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49" name="Rechteck 148"/>
          <p:cNvSpPr/>
          <p:nvPr/>
        </p:nvSpPr>
        <p:spPr>
          <a:xfrm>
            <a:off x="7723827" y="2581996"/>
            <a:ext cx="144016" cy="17281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sendbuf</a:t>
            </a:r>
            <a:r>
              <a:rPr lang="en-US" sz="1100" dirty="0" smtClean="0">
                <a:solidFill>
                  <a:schemeClr val="tx1"/>
                </a:solidFill>
              </a:rPr>
              <a:t>[2*d+1] = +100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50" name="Rechteck 149"/>
          <p:cNvSpPr/>
          <p:nvPr/>
        </p:nvSpPr>
        <p:spPr>
          <a:xfrm>
            <a:off x="7939851" y="2581996"/>
            <a:ext cx="144016" cy="1728192"/>
          </a:xfrm>
          <a:prstGeom prst="rect">
            <a:avLst/>
          </a:prstGeom>
          <a:noFill/>
          <a:ln w="19050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1100" dirty="0" err="1" smtClean="0">
                <a:solidFill>
                  <a:schemeClr val="tx1"/>
                </a:solidFill>
              </a:rPr>
              <a:t>recvbuf</a:t>
            </a:r>
            <a:r>
              <a:rPr lang="en-US" sz="1100" dirty="0" smtClean="0">
                <a:solidFill>
                  <a:schemeClr val="tx1"/>
                </a:solidFill>
              </a:rPr>
              <a:t>[2*d+1] = -100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51" name="Textfeld 150"/>
          <p:cNvSpPr txBox="1"/>
          <p:nvPr/>
        </p:nvSpPr>
        <p:spPr>
          <a:xfrm>
            <a:off x="7074638" y="4264601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</a:t>
            </a:r>
            <a:r>
              <a: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0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0" name="Gerade Verbindung mit Pfeil 169"/>
          <p:cNvCxnSpPr/>
          <p:nvPr/>
        </p:nvCxnSpPr>
        <p:spPr>
          <a:xfrm>
            <a:off x="7871274" y="4164149"/>
            <a:ext cx="444025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Gerade Verbindung mit Pfeil 170"/>
          <p:cNvCxnSpPr/>
          <p:nvPr/>
        </p:nvCxnSpPr>
        <p:spPr>
          <a:xfrm>
            <a:off x="6678326" y="4164149"/>
            <a:ext cx="189384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Bogen 171"/>
          <p:cNvSpPr/>
          <p:nvPr/>
        </p:nvSpPr>
        <p:spPr>
          <a:xfrm>
            <a:off x="8099275" y="4164149"/>
            <a:ext cx="360040" cy="360040"/>
          </a:xfrm>
          <a:prstGeom prst="arc">
            <a:avLst>
              <a:gd name="adj1" fmla="val 16200000"/>
              <a:gd name="adj2" fmla="val 5387312"/>
            </a:avLst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3" name="Bogen 172"/>
          <p:cNvSpPr/>
          <p:nvPr/>
        </p:nvSpPr>
        <p:spPr>
          <a:xfrm flipH="1">
            <a:off x="6494576" y="4164149"/>
            <a:ext cx="360040" cy="360040"/>
          </a:xfrm>
          <a:prstGeom prst="arc">
            <a:avLst>
              <a:gd name="adj1" fmla="val 16200000"/>
              <a:gd name="adj2" fmla="val 5387312"/>
            </a:avLst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4" name="Gerader Verbinder 173"/>
          <p:cNvCxnSpPr>
            <a:stCxn id="173" idx="2"/>
            <a:endCxn id="172" idx="2"/>
          </p:cNvCxnSpPr>
          <p:nvPr/>
        </p:nvCxnSpPr>
        <p:spPr>
          <a:xfrm>
            <a:off x="6673932" y="4524188"/>
            <a:ext cx="1606027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Gerade Verbindung mit Pfeil 174"/>
          <p:cNvCxnSpPr/>
          <p:nvPr/>
        </p:nvCxnSpPr>
        <p:spPr>
          <a:xfrm flipH="1" flipV="1">
            <a:off x="6638592" y="2708920"/>
            <a:ext cx="444025" cy="0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Gerade Verbindung mit Pfeil 175"/>
          <p:cNvCxnSpPr/>
          <p:nvPr/>
        </p:nvCxnSpPr>
        <p:spPr>
          <a:xfrm flipH="1" flipV="1">
            <a:off x="8087298" y="2708920"/>
            <a:ext cx="189384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Bogen 176"/>
          <p:cNvSpPr/>
          <p:nvPr/>
        </p:nvSpPr>
        <p:spPr>
          <a:xfrm flipH="1" flipV="1">
            <a:off x="6494576" y="2348880"/>
            <a:ext cx="360040" cy="360040"/>
          </a:xfrm>
          <a:prstGeom prst="arc">
            <a:avLst>
              <a:gd name="adj1" fmla="val 16200000"/>
              <a:gd name="adj2" fmla="val 5387312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Bogen 177"/>
          <p:cNvSpPr/>
          <p:nvPr/>
        </p:nvSpPr>
        <p:spPr>
          <a:xfrm flipV="1">
            <a:off x="8100392" y="2348880"/>
            <a:ext cx="360040" cy="360040"/>
          </a:xfrm>
          <a:prstGeom prst="arc">
            <a:avLst>
              <a:gd name="adj1" fmla="val 16200000"/>
              <a:gd name="adj2" fmla="val 5387312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9" name="Gerader Verbinder 178"/>
          <p:cNvCxnSpPr>
            <a:stCxn id="178" idx="2"/>
            <a:endCxn id="177" idx="2"/>
          </p:cNvCxnSpPr>
          <p:nvPr/>
        </p:nvCxnSpPr>
        <p:spPr>
          <a:xfrm flipH="1">
            <a:off x="6673932" y="2348881"/>
            <a:ext cx="1607144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uppieren 191"/>
          <p:cNvGrpSpPr/>
          <p:nvPr/>
        </p:nvGrpSpPr>
        <p:grpSpPr>
          <a:xfrm>
            <a:off x="6732240" y="4834299"/>
            <a:ext cx="1496571" cy="785541"/>
            <a:chOff x="6792554" y="5271930"/>
            <a:chExt cx="1496571" cy="785541"/>
          </a:xfrm>
        </p:grpSpPr>
        <p:grpSp>
          <p:nvGrpSpPr>
            <p:cNvPr id="152" name="Gruppieren 151"/>
            <p:cNvGrpSpPr/>
            <p:nvPr/>
          </p:nvGrpSpPr>
          <p:grpSpPr>
            <a:xfrm>
              <a:off x="6894834" y="5433698"/>
              <a:ext cx="1171604" cy="156035"/>
              <a:chOff x="2976344" y="4149080"/>
              <a:chExt cx="2047677" cy="241865"/>
            </a:xfrm>
            <a:noFill/>
          </p:grpSpPr>
          <p:sp>
            <p:nvSpPr>
              <p:cNvPr id="153" name="Rechteck 152"/>
              <p:cNvSpPr/>
              <p:nvPr/>
            </p:nvSpPr>
            <p:spPr>
              <a:xfrm>
                <a:off x="3355256" y="4149080"/>
                <a:ext cx="648072" cy="24186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-100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4" name="Rechteck 153"/>
              <p:cNvSpPr/>
              <p:nvPr/>
            </p:nvSpPr>
            <p:spPr>
              <a:xfrm>
                <a:off x="4003328" y="4149080"/>
                <a:ext cx="648072" cy="24186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+100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55" name="Gruppieren 154"/>
              <p:cNvGrpSpPr/>
              <p:nvPr/>
            </p:nvGrpSpPr>
            <p:grpSpPr>
              <a:xfrm>
                <a:off x="4651400" y="4149080"/>
                <a:ext cx="372621" cy="241865"/>
                <a:chOff x="3479299" y="1772816"/>
                <a:chExt cx="372621" cy="288032"/>
              </a:xfrm>
              <a:grpFill/>
            </p:grpSpPr>
            <p:cxnSp>
              <p:nvCxnSpPr>
                <p:cNvPr id="159" name="Gerader Verbinder 158"/>
                <p:cNvCxnSpPr/>
                <p:nvPr/>
              </p:nvCxnSpPr>
              <p:spPr>
                <a:xfrm>
                  <a:off x="3479299" y="1772816"/>
                  <a:ext cx="372621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Gerader Verbinder 159"/>
                <p:cNvCxnSpPr/>
                <p:nvPr/>
              </p:nvCxnSpPr>
              <p:spPr>
                <a:xfrm>
                  <a:off x="3479299" y="2060848"/>
                  <a:ext cx="372621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6" name="Gruppieren 155"/>
              <p:cNvGrpSpPr/>
              <p:nvPr/>
            </p:nvGrpSpPr>
            <p:grpSpPr>
              <a:xfrm>
                <a:off x="2976344" y="4149080"/>
                <a:ext cx="372621" cy="241865"/>
                <a:chOff x="3631699" y="1925216"/>
                <a:chExt cx="372621" cy="288032"/>
              </a:xfrm>
              <a:grpFill/>
            </p:grpSpPr>
            <p:cxnSp>
              <p:nvCxnSpPr>
                <p:cNvPr id="157" name="Gerader Verbinder 156"/>
                <p:cNvCxnSpPr/>
                <p:nvPr/>
              </p:nvCxnSpPr>
              <p:spPr>
                <a:xfrm>
                  <a:off x="3631699" y="1925216"/>
                  <a:ext cx="372621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Gerader Verbinder 157"/>
                <p:cNvCxnSpPr/>
                <p:nvPr/>
              </p:nvCxnSpPr>
              <p:spPr>
                <a:xfrm>
                  <a:off x="3631699" y="2213248"/>
                  <a:ext cx="372621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1" name="Gruppieren 160"/>
            <p:cNvGrpSpPr/>
            <p:nvPr/>
          </p:nvGrpSpPr>
          <p:grpSpPr>
            <a:xfrm>
              <a:off x="6894834" y="5740038"/>
              <a:ext cx="1171604" cy="156035"/>
              <a:chOff x="6484763" y="4149080"/>
              <a:chExt cx="2047677" cy="241865"/>
            </a:xfrm>
            <a:noFill/>
          </p:grpSpPr>
          <p:sp>
            <p:nvSpPr>
              <p:cNvPr id="162" name="Rechteck 161"/>
              <p:cNvSpPr/>
              <p:nvPr/>
            </p:nvSpPr>
            <p:spPr>
              <a:xfrm>
                <a:off x="6863675" y="4149080"/>
                <a:ext cx="648072" cy="2418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00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+100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63" name="Rechteck 162"/>
              <p:cNvSpPr/>
              <p:nvPr/>
            </p:nvSpPr>
            <p:spPr>
              <a:xfrm>
                <a:off x="7511747" y="4149080"/>
                <a:ext cx="648072" cy="2418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00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dirty="0" smtClean="0">
                    <a:solidFill>
                      <a:schemeClr val="tx1"/>
                    </a:solidFill>
                    <a:cs typeface="Arial" panose="020B0604020202020204" pitchFamily="34" charset="0"/>
                  </a:rPr>
                  <a:t>-100</a:t>
                </a:r>
                <a:endParaRPr lang="en-US" sz="11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164" name="Gruppieren 163"/>
              <p:cNvGrpSpPr/>
              <p:nvPr/>
            </p:nvGrpSpPr>
            <p:grpSpPr>
              <a:xfrm>
                <a:off x="8159819" y="4149080"/>
                <a:ext cx="372621" cy="241865"/>
                <a:chOff x="3479299" y="1772816"/>
                <a:chExt cx="372621" cy="288032"/>
              </a:xfrm>
              <a:grpFill/>
            </p:grpSpPr>
            <p:cxnSp>
              <p:nvCxnSpPr>
                <p:cNvPr id="168" name="Gerader Verbinder 167"/>
                <p:cNvCxnSpPr/>
                <p:nvPr/>
              </p:nvCxnSpPr>
              <p:spPr>
                <a:xfrm>
                  <a:off x="3479299" y="1772816"/>
                  <a:ext cx="372621" cy="0"/>
                </a:xfrm>
                <a:prstGeom prst="line">
                  <a:avLst/>
                </a:prstGeom>
                <a:grpFill/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Gerader Verbinder 168"/>
                <p:cNvCxnSpPr/>
                <p:nvPr/>
              </p:nvCxnSpPr>
              <p:spPr>
                <a:xfrm>
                  <a:off x="3479299" y="2060848"/>
                  <a:ext cx="372621" cy="0"/>
                </a:xfrm>
                <a:prstGeom prst="line">
                  <a:avLst/>
                </a:prstGeom>
                <a:grpFill/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uppieren 164"/>
              <p:cNvGrpSpPr/>
              <p:nvPr/>
            </p:nvGrpSpPr>
            <p:grpSpPr>
              <a:xfrm>
                <a:off x="6484763" y="4149080"/>
                <a:ext cx="372621" cy="241865"/>
                <a:chOff x="3631699" y="1925216"/>
                <a:chExt cx="372621" cy="288032"/>
              </a:xfrm>
              <a:grpFill/>
            </p:grpSpPr>
            <p:cxnSp>
              <p:nvCxnSpPr>
                <p:cNvPr id="166" name="Gerader Verbinder 165"/>
                <p:cNvCxnSpPr/>
                <p:nvPr/>
              </p:nvCxnSpPr>
              <p:spPr>
                <a:xfrm>
                  <a:off x="3631699" y="1925216"/>
                  <a:ext cx="372621" cy="0"/>
                </a:xfrm>
                <a:prstGeom prst="line">
                  <a:avLst/>
                </a:prstGeom>
                <a:grpFill/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Gerader Verbinder 166"/>
                <p:cNvCxnSpPr/>
                <p:nvPr/>
              </p:nvCxnSpPr>
              <p:spPr>
                <a:xfrm>
                  <a:off x="3631699" y="2213248"/>
                  <a:ext cx="372621" cy="0"/>
                </a:xfrm>
                <a:prstGeom prst="line">
                  <a:avLst/>
                </a:prstGeom>
                <a:grpFill/>
                <a:ln w="19050">
                  <a:solidFill>
                    <a:srgbClr val="00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80" name="Gerade Verbindung mit Pfeil 179"/>
            <p:cNvCxnSpPr/>
            <p:nvPr/>
          </p:nvCxnSpPr>
          <p:spPr>
            <a:xfrm>
              <a:off x="7853862" y="5526466"/>
              <a:ext cx="316485" cy="87950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Gerade Verbindung mit Pfeil 180"/>
            <p:cNvCxnSpPr>
              <a:stCxn id="188" idx="0"/>
            </p:cNvCxnSpPr>
            <p:nvPr/>
          </p:nvCxnSpPr>
          <p:spPr>
            <a:xfrm flipH="1">
              <a:off x="7853862" y="5750830"/>
              <a:ext cx="275415" cy="81977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Gerade Verbindung mit Pfeil 181"/>
            <p:cNvCxnSpPr/>
            <p:nvPr/>
          </p:nvCxnSpPr>
          <p:spPr>
            <a:xfrm>
              <a:off x="6912638" y="5824746"/>
              <a:ext cx="189384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Bogen 182"/>
            <p:cNvSpPr/>
            <p:nvPr/>
          </p:nvSpPr>
          <p:spPr>
            <a:xfrm>
              <a:off x="7821138" y="5589022"/>
              <a:ext cx="467987" cy="467987"/>
            </a:xfrm>
            <a:prstGeom prst="arc">
              <a:avLst>
                <a:gd name="adj1" fmla="val 17112427"/>
                <a:gd name="adj2" fmla="val 5387312"/>
              </a:avLst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Bogen 183"/>
            <p:cNvSpPr/>
            <p:nvPr/>
          </p:nvSpPr>
          <p:spPr>
            <a:xfrm flipH="1">
              <a:off x="6810835" y="5824746"/>
              <a:ext cx="232725" cy="232725"/>
            </a:xfrm>
            <a:prstGeom prst="arc">
              <a:avLst>
                <a:gd name="adj1" fmla="val 16200000"/>
                <a:gd name="adj2" fmla="val 5387312"/>
              </a:avLst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5" name="Gerader Verbinder 184"/>
            <p:cNvCxnSpPr>
              <a:endCxn id="183" idx="2"/>
            </p:cNvCxnSpPr>
            <p:nvPr/>
          </p:nvCxnSpPr>
          <p:spPr>
            <a:xfrm>
              <a:off x="6912638" y="6057007"/>
              <a:ext cx="1143357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Gerade Verbindung mit Pfeil 185"/>
            <p:cNvCxnSpPr/>
            <p:nvPr/>
          </p:nvCxnSpPr>
          <p:spPr>
            <a:xfrm flipH="1">
              <a:off x="6890867" y="5514634"/>
              <a:ext cx="213957" cy="0"/>
            </a:xfrm>
            <a:prstGeom prst="straightConnector1">
              <a:avLst/>
            </a:prstGeom>
            <a:ln>
              <a:solidFill>
                <a:srgbClr val="0000FF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Bogen 186"/>
            <p:cNvSpPr/>
            <p:nvPr/>
          </p:nvSpPr>
          <p:spPr>
            <a:xfrm flipH="1" flipV="1">
              <a:off x="6792554" y="5271930"/>
              <a:ext cx="242703" cy="242703"/>
            </a:xfrm>
            <a:prstGeom prst="arc">
              <a:avLst>
                <a:gd name="adj1" fmla="val 16200000"/>
                <a:gd name="adj2" fmla="val 5387312"/>
              </a:avLst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Bogen 187"/>
            <p:cNvSpPr/>
            <p:nvPr/>
          </p:nvSpPr>
          <p:spPr>
            <a:xfrm flipV="1">
              <a:off x="7794196" y="5271931"/>
              <a:ext cx="494929" cy="494929"/>
            </a:xfrm>
            <a:prstGeom prst="arc">
              <a:avLst>
                <a:gd name="adj1" fmla="val 17444142"/>
                <a:gd name="adj2" fmla="val 5387312"/>
              </a:avLst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9" name="Gerader Verbinder 188"/>
            <p:cNvCxnSpPr>
              <a:stCxn id="188" idx="2"/>
              <a:endCxn id="187" idx="2"/>
            </p:cNvCxnSpPr>
            <p:nvPr/>
          </p:nvCxnSpPr>
          <p:spPr>
            <a:xfrm flipH="1" flipV="1">
              <a:off x="6913458" y="5271931"/>
              <a:ext cx="1129116" cy="2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69087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ortran_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6_Fortran_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Fortran_Design</Template>
  <TotalTime>0</TotalTime>
  <Words>150</Words>
  <Application>Microsoft Office PowerPoint</Application>
  <PresentationFormat>Bildschirmpräsentation (4:3)</PresentationFormat>
  <Paragraphs>44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Arial Rounded MT Bold</vt:lpstr>
      <vt:lpstr>Calibri</vt:lpstr>
      <vt:lpstr>Fortran_Design</vt:lpstr>
      <vt:lpstr>16_Fortran_Design</vt:lpstr>
      <vt:lpstr>Proposed changes to MPI-3.1 MPI_NEIGHBOR_ALLTOALL </vt:lpstr>
    </vt:vector>
  </TitlesOfParts>
  <Company>HLRS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title page</dc:title>
  <dc:creator>See title page</dc:creator>
  <cp:lastModifiedBy>Rolf Rabenseifner</cp:lastModifiedBy>
  <cp:revision>618</cp:revision>
  <cp:lastPrinted>2019-10-06T16:36:58Z</cp:lastPrinted>
  <dcterms:created xsi:type="dcterms:W3CDTF">1998-05-19T06:04:18Z</dcterms:created>
  <dcterms:modified xsi:type="dcterms:W3CDTF">2020-11-05T11:04:19Z</dcterms:modified>
</cp:coreProperties>
</file>